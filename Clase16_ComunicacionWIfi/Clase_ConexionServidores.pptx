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eMOVMubzdJ5LJb9h7gONk3m+S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D9AB8-3A8D-AC9B-89F7-66D0B7B08C4B}" v="1" dt="2024-11-18T21:53:06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MIN ESTIVEN JARAMILLO M�NERA" userId="S::yominjaramillo2283@correo.itm.edu.co::5de7da91-d4ca-4e19-ade9-7a9f7cf3f0cc" providerId="AD" clId="Web-{B5AD9AB8-3A8D-AC9B-89F7-66D0B7B08C4B}"/>
    <pc:docChg chg="modSld">
      <pc:chgData name="YOMIN ESTIVEN JARAMILLO M�NERA" userId="S::yominjaramillo2283@correo.itm.edu.co::5de7da91-d4ca-4e19-ade9-7a9f7cf3f0cc" providerId="AD" clId="Web-{B5AD9AB8-3A8D-AC9B-89F7-66D0B7B08C4B}" dt="2024-11-18T21:53:06.965" v="1" actId="20577"/>
      <pc:docMkLst>
        <pc:docMk/>
      </pc:docMkLst>
      <pc:sldChg chg="modSp">
        <pc:chgData name="YOMIN ESTIVEN JARAMILLO M�NERA" userId="S::yominjaramillo2283@correo.itm.edu.co::5de7da91-d4ca-4e19-ade9-7a9f7cf3f0cc" providerId="AD" clId="Web-{B5AD9AB8-3A8D-AC9B-89F7-66D0B7B08C4B}" dt="2024-11-18T21:53:06.965" v="1" actId="20577"/>
        <pc:sldMkLst>
          <pc:docMk/>
          <pc:sldMk cId="2821488310" sldId="262"/>
        </pc:sldMkLst>
        <pc:spChg chg="mod">
          <ac:chgData name="YOMIN ESTIVEN JARAMILLO M�NERA" userId="S::yominjaramillo2283@correo.itm.edu.co::5de7da91-d4ca-4e19-ade9-7a9f7cf3f0cc" providerId="AD" clId="Web-{B5AD9AB8-3A8D-AC9B-89F7-66D0B7B08C4B}" dt="2024-11-18T21:53:06.965" v="1" actId="20577"/>
          <ac:spMkLst>
            <pc:docMk/>
            <pc:sldMk cId="2821488310" sldId="262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521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041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8327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9669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147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1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ctrTitle"/>
          </p:nvPr>
        </p:nvSpPr>
        <p:spPr>
          <a:xfrm>
            <a:off x="1524000" y="1661823"/>
            <a:ext cx="9144000" cy="184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3487479" y="412833"/>
            <a:ext cx="8025346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814346" y="1825626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731520" y="1367624"/>
            <a:ext cx="10622280" cy="430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" name="Google Shape;12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title"/>
          </p:nvPr>
        </p:nvSpPr>
        <p:spPr>
          <a:xfrm>
            <a:off x="1416138" y="1908313"/>
            <a:ext cx="9373925" cy="175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O" sz="4000" b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MICROCONTROLADORES</a:t>
            </a:r>
            <a:br>
              <a:rPr lang="es-CO" sz="4000" b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O" sz="4000" b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Bases para conexión a web server</a:t>
            </a:r>
            <a:endParaRPr sz="7200" b="0" dirty="0">
              <a:solidFill>
                <a:schemeClr val="lt1"/>
              </a:solidFill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1775901" y="68768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409037" y="3749514"/>
            <a:ext cx="9373925" cy="210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s-ES" sz="24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Yomin</a:t>
            </a:r>
            <a:r>
              <a:rPr lang="es-E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Jaramillo </a:t>
            </a:r>
            <a:r>
              <a:rPr lang="es-ES" sz="24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Múnera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s-CO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Ingeniero Biomédico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s-CO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Magister en Automatización y control industrial</a:t>
            </a:r>
            <a:endParaRPr sz="24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s-CO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yominjaramillo2283@correo.itm.edu.co</a:t>
            </a:r>
            <a:endParaRPr sz="24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CO" sz="3600"/>
              <a:t>Introducción</a:t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1262992" y="1336145"/>
            <a:ext cx="6176495" cy="271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En esta clase aprenderemos cómo podemos utilizar el ESP32 para conectarnos a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 y utilizar características como el socket para comunicarnos con un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El ESP32 es un microcontrolador popular y poderoso que viene equipado con funcionalidades de conectividad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, lo que nos permite conectarlo a una red inalámbrica para acceder a Internet y enviar y recibir datos.</a:t>
            </a:r>
            <a:endParaRPr lang="es-ES" sz="2000" dirty="0">
              <a:solidFill>
                <a:srgbClr val="666666"/>
              </a:solidFill>
              <a:effectLst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44" y="3219373"/>
            <a:ext cx="3116918" cy="16576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dirty="0"/>
              <a:t>¿Qué es una red </a:t>
            </a:r>
            <a:r>
              <a:rPr lang="es-ES" dirty="0" err="1"/>
              <a:t>WiFi</a:t>
            </a:r>
            <a:r>
              <a:rPr lang="es-ES" dirty="0"/>
              <a:t>?</a:t>
            </a:r>
            <a:endParaRPr dirty="0"/>
          </a:p>
        </p:txBody>
      </p:sp>
      <p:sp>
        <p:nvSpPr>
          <p:cNvPr id="47" name="Google Shape;47;p2"/>
          <p:cNvSpPr txBox="1"/>
          <p:nvPr/>
        </p:nvSpPr>
        <p:spPr>
          <a:xfrm>
            <a:off x="1141192" y="2206157"/>
            <a:ext cx="6176495" cy="271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Antes de empezar a hablar de cómo conectar el ESP32 a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, es importante entender qué es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 es una conexión inalámbrica que permite la comunicación entre diferentes dispositivos electrónicos, como computadoras, teléfonos móviles o microcontroladores como el ESP32.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Utilizando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, podemos acceder a Internet, compartir archivos y datos, y conectar múltiples dispositivos en una misma red.</a:t>
            </a:r>
            <a:endParaRPr lang="es-ES" sz="2000" dirty="0">
              <a:solidFill>
                <a:srgbClr val="666666"/>
              </a:solidFill>
              <a:effectLst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0" y="2206157"/>
            <a:ext cx="3018961" cy="216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0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dirty="0"/>
              <a:t>¿Cómo se conecta el ESP32 a una red </a:t>
            </a:r>
            <a:r>
              <a:rPr lang="es-ES" dirty="0" err="1"/>
              <a:t>WiFi</a:t>
            </a:r>
            <a:r>
              <a:rPr lang="es-ES" dirty="0"/>
              <a:t>?</a:t>
            </a:r>
            <a:endParaRPr dirty="0"/>
          </a:p>
        </p:txBody>
      </p:sp>
      <p:sp>
        <p:nvSpPr>
          <p:cNvPr id="4" name="CuadroTexto 3"/>
          <p:cNvSpPr txBox="1"/>
          <p:nvPr/>
        </p:nvSpPr>
        <p:spPr>
          <a:xfrm>
            <a:off x="1580225" y="1722228"/>
            <a:ext cx="556629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El ESP32 se puede conectar a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 mediante el uso de bibliotecas y un proceso de configuración.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En nuestro código, utilizamos la biblioteca </a:t>
            </a:r>
            <a:r>
              <a:rPr lang="es-ES" sz="2000" dirty="0" err="1">
                <a:solidFill>
                  <a:srgbClr val="666666"/>
                </a:solidFill>
              </a:rPr>
              <a:t>network</a:t>
            </a:r>
            <a:r>
              <a:rPr lang="es-ES" sz="2000" dirty="0">
                <a:solidFill>
                  <a:srgbClr val="666666"/>
                </a:solidFill>
              </a:rPr>
              <a:t> para habilitar la conectividad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 y conectarnos a una red especificada (SSID) y su respectiva contraseña.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Una vez que se ha establecido la conexión, podemos utilizar las funciones proporcionadas por la biblioteca para verificar si la conexión ha sido exitosa y obtener información como la dirección IP asignada al ESP32 en la red.</a:t>
            </a:r>
          </a:p>
          <a:p>
            <a:endParaRPr lang="es-ES" dirty="0">
              <a:effectLst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499" y="2512380"/>
            <a:ext cx="3442617" cy="205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7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dirty="0"/>
              <a:t>¿Qué es una dirección IP?</a:t>
            </a:r>
            <a:endParaRPr dirty="0"/>
          </a:p>
        </p:txBody>
      </p:sp>
      <p:sp>
        <p:nvSpPr>
          <p:cNvPr id="47" name="Google Shape;47;p2"/>
          <p:cNvSpPr txBox="1"/>
          <p:nvPr/>
        </p:nvSpPr>
        <p:spPr>
          <a:xfrm>
            <a:off x="1229969" y="2089440"/>
            <a:ext cx="6176495" cy="271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Una dirección IP es una serie única de números separados por puntos que identifica a cada dispositivo conectado a una 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Una dirección IP se utiliza para establecer una conexión y permitir que los dispositivos se comuniquen entre sí a través de Internet o una red local.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666666"/>
                </a:solidFill>
              </a:rPr>
              <a:t>En nuestro código, podemos utilizar la función </a:t>
            </a:r>
            <a:r>
              <a:rPr lang="es-ES" sz="2000" dirty="0" err="1">
                <a:solidFill>
                  <a:srgbClr val="666666"/>
                </a:solidFill>
              </a:rPr>
              <a:t>ifconfig</a:t>
            </a:r>
            <a:r>
              <a:rPr lang="es-ES" sz="2000" dirty="0">
                <a:solidFill>
                  <a:srgbClr val="666666"/>
                </a:solidFill>
              </a:rPr>
              <a:t>() para obtener la dirección IP asignada al ESP32 una vez que se ha conectado a una red </a:t>
            </a:r>
            <a:r>
              <a:rPr lang="es-ES" sz="2000" dirty="0" err="1">
                <a:solidFill>
                  <a:srgbClr val="666666"/>
                </a:solidFill>
              </a:rPr>
              <a:t>WiFi</a:t>
            </a:r>
            <a:r>
              <a:rPr lang="es-ES" sz="2000" dirty="0">
                <a:solidFill>
                  <a:srgbClr val="666666"/>
                </a:solidFill>
              </a:rPr>
              <a:t>.</a:t>
            </a:r>
          </a:p>
          <a:p>
            <a:pPr algn="just"/>
            <a:endParaRPr lang="es-ES" sz="2000" dirty="0">
              <a:solidFill>
                <a:srgbClr val="666666"/>
              </a:solidFill>
              <a:effectLst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1" y="2089440"/>
            <a:ext cx="3812270" cy="26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9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dirty="0"/>
              <a:t>¿Qué es un socket?</a:t>
            </a:r>
            <a:endParaRPr dirty="0"/>
          </a:p>
        </p:txBody>
      </p:sp>
      <p:sp>
        <p:nvSpPr>
          <p:cNvPr id="47" name="Google Shape;47;p2"/>
          <p:cNvSpPr txBox="1"/>
          <p:nvPr/>
        </p:nvSpPr>
        <p:spPr>
          <a:xfrm>
            <a:off x="954761" y="1709006"/>
            <a:ext cx="5508183" cy="271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8000" dirty="0">
                <a:solidFill>
                  <a:srgbClr val="666666"/>
                </a:solidFill>
              </a:rPr>
              <a:t>Un socket es un punto final de una conexión bidireccional entre dos programas que se ejecutan en una 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8000" dirty="0">
                <a:solidFill>
                  <a:srgbClr val="666666"/>
                </a:solidFill>
              </a:rPr>
              <a:t>El socket permite que los programas envíen y reciban datos a través de una red y establezcan una comunicación confiable y segura.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8000" dirty="0">
                <a:solidFill>
                  <a:srgbClr val="666666"/>
                </a:solidFill>
              </a:rPr>
              <a:t>En nuestro código, utilizamos la biblioteca socket() </a:t>
            </a:r>
            <a:r>
              <a:rPr lang="es-ES" sz="8000" dirty="0">
                <a:solidFill>
                  <a:srgbClr val="666666"/>
                </a:solidFill>
              </a:rPr>
              <a:t>para crear y utilizar sockets para enviar y recibir datos desde y hacia un servidor remoto.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8000" dirty="0">
                <a:solidFill>
                  <a:srgbClr val="666666"/>
                </a:solidFill>
              </a:rPr>
              <a:t>Los sockets son esenciales para la comunicación con servidores web, API y otros dispositivos conectados a la red.</a:t>
            </a:r>
          </a:p>
          <a:p>
            <a:endParaRPr lang="es-ES" sz="2000" dirty="0">
              <a:solidFill>
                <a:srgbClr val="666666"/>
              </a:solidFill>
            </a:endParaRPr>
          </a:p>
          <a:p>
            <a:pPr algn="just"/>
            <a:endParaRPr lang="es-ES" sz="2000" dirty="0">
              <a:solidFill>
                <a:srgbClr val="666666"/>
              </a:solidFill>
              <a:effectLst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394" y="1944232"/>
            <a:ext cx="4439270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7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459127" y="412833"/>
            <a:ext cx="7894674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dirty="0"/>
              <a:t>¿Qué es un HTML?</a:t>
            </a:r>
            <a:endParaRPr dirty="0"/>
          </a:p>
        </p:txBody>
      </p:sp>
      <p:sp>
        <p:nvSpPr>
          <p:cNvPr id="47" name="Google Shape;47;p2"/>
          <p:cNvSpPr txBox="1"/>
          <p:nvPr/>
        </p:nvSpPr>
        <p:spPr>
          <a:xfrm>
            <a:off x="954761" y="1709005"/>
            <a:ext cx="6176495" cy="316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s-ES" sz="2400" dirty="0">
                <a:solidFill>
                  <a:srgbClr val="666666"/>
                </a:solidFill>
              </a:rPr>
              <a:t>El Lenguaje de Marcado de Hipertexto (HTML) es el código que se utiliza para estructurar y desplegar una página web y sus contenidos. Por ejemplo, sus contenidos podrían ser párrafos, una lista </a:t>
            </a:r>
            <a:r>
              <a:rPr lang="es-ES" sz="2400">
                <a:solidFill>
                  <a:srgbClr val="666666"/>
                </a:solidFill>
              </a:rPr>
              <a:t>con viñetas, o imágenes y tablas de datos. </a:t>
            </a:r>
            <a:endParaRPr lang="es-ES" sz="2400">
              <a:solidFill>
                <a:srgbClr val="666666"/>
              </a:solidFill>
              <a:effectLst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30" y="2624950"/>
            <a:ext cx="3550556" cy="111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88310"/>
      </p:ext>
    </p:extLst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2083739449E146954D217C5C5B75FD" ma:contentTypeVersion="8" ma:contentTypeDescription="Create a new document." ma:contentTypeScope="" ma:versionID="2cab1e17185109e3773b069ae0f13469">
  <xsd:schema xmlns:xsd="http://www.w3.org/2001/XMLSchema" xmlns:xs="http://www.w3.org/2001/XMLSchema" xmlns:p="http://schemas.microsoft.com/office/2006/metadata/properties" xmlns:ns2="70354af7-c67f-45ea-a8f1-6fecbfa9bee8" targetNamespace="http://schemas.microsoft.com/office/2006/metadata/properties" ma:root="true" ma:fieldsID="7029404d692abcebbd71a5ea72986350" ns2:_="">
    <xsd:import namespace="70354af7-c67f-45ea-a8f1-6fecbfa9b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54af7-c67f-45ea-a8f1-6fecbfa9be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78323F-9BDE-427F-8792-BEBA00A6EE1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6CEDEB-F91D-4650-B28C-8C7F0B4E3E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270EA9-127F-469B-81EF-D93EA7DA3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354af7-c67f-45ea-a8f1-6fecbfa9b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510</Words>
  <Application>Microsoft Office PowerPoint</Application>
  <PresentationFormat>Widescreen</PresentationFormat>
  <Paragraphs>27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1_Diseño personalizado</vt:lpstr>
      <vt:lpstr>MICROCONTROLADORES Bases para conexión a web server</vt:lpstr>
      <vt:lpstr>Introducción</vt:lpstr>
      <vt:lpstr>¿Qué es una red WiFi?</vt:lpstr>
      <vt:lpstr>¿Cómo se conecta el ESP32 a una red WiFi?</vt:lpstr>
      <vt:lpstr>¿Qué es una dirección IP?</vt:lpstr>
      <vt:lpstr>¿Qué es un socket?</vt:lpstr>
      <vt:lpstr>¿Qué es un HTML?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Informática II</dc:title>
  <dc:creator>Juan Pablo Restrepo Uribe</dc:creator>
  <cp:lastModifiedBy>Asistencial AI. Investigación</cp:lastModifiedBy>
  <cp:revision>6</cp:revision>
  <dcterms:created xsi:type="dcterms:W3CDTF">2022-02-01T15:04:57Z</dcterms:created>
  <dcterms:modified xsi:type="dcterms:W3CDTF">2024-11-18T21:53:07Z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0x010100372083739449E146954D217C5C5B75FD</vt:lpwstr>
  </property>
</Properties>
</file>