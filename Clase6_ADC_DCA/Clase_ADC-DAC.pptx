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85" r:id="rId4"/>
    <p:sldMasterId id="2147483693" r:id="rId5"/>
  </p:sldMasterIdLst>
  <p:notesMasterIdLst>
    <p:notesMasterId r:id="rId18"/>
  </p:notesMasterIdLst>
  <p:sldIdLst>
    <p:sldId id="269" r:id="rId6"/>
    <p:sldId id="351" r:id="rId7"/>
    <p:sldId id="352" r:id="rId8"/>
    <p:sldId id="353" r:id="rId9"/>
    <p:sldId id="354" r:id="rId10"/>
    <p:sldId id="355" r:id="rId11"/>
    <p:sldId id="356" r:id="rId12"/>
    <p:sldId id="357" r:id="rId13"/>
    <p:sldId id="358" r:id="rId14"/>
    <p:sldId id="359" r:id="rId15"/>
    <p:sldId id="360" r:id="rId16"/>
    <p:sldId id="264"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B426A7-6723-262E-ED6B-0AE33543D85F}" v="401" dt="2024-03-20T17:03:32.19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43"/>
  </p:normalViewPr>
  <p:slideViewPr>
    <p:cSldViewPr snapToGrid="0" snapToObjects="1">
      <p:cViewPr varScale="1">
        <p:scale>
          <a:sx n="56" d="100"/>
          <a:sy n="56" d="100"/>
        </p:scale>
        <p:origin x="72" y="984"/>
      </p:cViewPr>
      <p:guideLst/>
    </p:cSldViewPr>
  </p:slideViewPr>
  <p:notesTextViewPr>
    <p:cViewPr>
      <p:scale>
        <a:sx n="1" d="1"/>
        <a:sy n="1" d="1"/>
      </p:scale>
      <p:origin x="0" y="0"/>
    </p:cViewPr>
  </p:notesTextViewPr>
  <p:notesViewPr>
    <p:cSldViewPr snapToGrid="0" snapToObjects="1">
      <p:cViewPr varScale="1">
        <p:scale>
          <a:sx n="135" d="100"/>
          <a:sy n="135" d="100"/>
        </p:scale>
        <p:origin x="6096"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MIN ESTIVEN JARAMILLO M�NERA" userId="S::yominjaramillo2283@correo.itm.edu.co::5de7da91-d4ca-4e19-ade9-7a9f7cf3f0cc" providerId="AD" clId="Web-{82B426A7-6723-262E-ED6B-0AE33543D85F}"/>
    <pc:docChg chg="addSld modSld">
      <pc:chgData name="YOMIN ESTIVEN JARAMILLO M�NERA" userId="S::yominjaramillo2283@correo.itm.edu.co::5de7da91-d4ca-4e19-ade9-7a9f7cf3f0cc" providerId="AD" clId="Web-{82B426A7-6723-262E-ED6B-0AE33543D85F}" dt="2024-03-20T17:03:32.197" v="401" actId="20577"/>
      <pc:docMkLst>
        <pc:docMk/>
      </pc:docMkLst>
      <pc:sldChg chg="modSp new">
        <pc:chgData name="YOMIN ESTIVEN JARAMILLO M�NERA" userId="S::yominjaramillo2283@correo.itm.edu.co::5de7da91-d4ca-4e19-ade9-7a9f7cf3f0cc" providerId="AD" clId="Web-{82B426A7-6723-262E-ED6B-0AE33543D85F}" dt="2024-03-20T16:59:41.624" v="211" actId="20577"/>
        <pc:sldMkLst>
          <pc:docMk/>
          <pc:sldMk cId="4293144174" sldId="359"/>
        </pc:sldMkLst>
        <pc:spChg chg="mod">
          <ac:chgData name="YOMIN ESTIVEN JARAMILLO M�NERA" userId="S::yominjaramillo2283@correo.itm.edu.co::5de7da91-d4ca-4e19-ade9-7a9f7cf3f0cc" providerId="AD" clId="Web-{82B426A7-6723-262E-ED6B-0AE33543D85F}" dt="2024-03-20T16:50:23.187" v="27" actId="20577"/>
          <ac:spMkLst>
            <pc:docMk/>
            <pc:sldMk cId="4293144174" sldId="359"/>
            <ac:spMk id="2" creationId="{F84168DE-C75A-9EC0-28FD-AFBA943F7C1C}"/>
          </ac:spMkLst>
        </pc:spChg>
        <pc:spChg chg="mod">
          <ac:chgData name="YOMIN ESTIVEN JARAMILLO M�NERA" userId="S::yominjaramillo2283@correo.itm.edu.co::5de7da91-d4ca-4e19-ade9-7a9f7cf3f0cc" providerId="AD" clId="Web-{82B426A7-6723-262E-ED6B-0AE33543D85F}" dt="2024-03-20T16:59:41.624" v="211" actId="20577"/>
          <ac:spMkLst>
            <pc:docMk/>
            <pc:sldMk cId="4293144174" sldId="359"/>
            <ac:spMk id="3" creationId="{0B48FC3D-278C-E065-2E38-BEF9C5B49318}"/>
          </ac:spMkLst>
        </pc:spChg>
      </pc:sldChg>
      <pc:sldChg chg="modSp add replId">
        <pc:chgData name="YOMIN ESTIVEN JARAMILLO M�NERA" userId="S::yominjaramillo2283@correo.itm.edu.co::5de7da91-d4ca-4e19-ade9-7a9f7cf3f0cc" providerId="AD" clId="Web-{82B426A7-6723-262E-ED6B-0AE33543D85F}" dt="2024-03-20T17:03:32.197" v="401" actId="20577"/>
        <pc:sldMkLst>
          <pc:docMk/>
          <pc:sldMk cId="2149397085" sldId="360"/>
        </pc:sldMkLst>
        <pc:spChg chg="mod">
          <ac:chgData name="YOMIN ESTIVEN JARAMILLO M�NERA" userId="S::yominjaramillo2283@correo.itm.edu.co::5de7da91-d4ca-4e19-ade9-7a9f7cf3f0cc" providerId="AD" clId="Web-{82B426A7-6723-262E-ED6B-0AE33543D85F}" dt="2024-03-20T17:03:32.197" v="401" actId="20577"/>
          <ac:spMkLst>
            <pc:docMk/>
            <pc:sldMk cId="2149397085" sldId="360"/>
            <ac:spMk id="3" creationId="{0B48FC3D-278C-E065-2E38-BEF9C5B4931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5C24C2-BD3D-B848-8ECA-2C648348E733}" type="datetimeFigureOut">
              <a:rPr lang="es-CO" smtClean="0"/>
              <a:t>20/03/2024</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es-ES"/>
              <a:t>Editar los estilos de texto del patrón
Segundo nivel
Tercer nivel
Cuarto nivel
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B7C5BF-8CE3-8B4B-9D5E-86E6BB3607BE}" type="slidenum">
              <a:rPr lang="es-CO" smtClean="0"/>
              <a:t>‹#›</a:t>
            </a:fld>
            <a:endParaRPr lang="es-CO"/>
          </a:p>
        </p:txBody>
      </p:sp>
    </p:spTree>
    <p:extLst>
      <p:ext uri="{BB962C8B-B14F-4D97-AF65-F5344CB8AC3E}">
        <p14:creationId xmlns:p14="http://schemas.microsoft.com/office/powerpoint/2010/main" val="2893739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22DC57-3FAE-7641-83A6-186E25CE8E6F}"/>
              </a:ext>
            </a:extLst>
          </p:cNvPr>
          <p:cNvSpPr>
            <a:spLocks noGrp="1"/>
          </p:cNvSpPr>
          <p:nvPr>
            <p:ph type="ctrTitle"/>
          </p:nvPr>
        </p:nvSpPr>
        <p:spPr>
          <a:xfrm>
            <a:off x="1524000" y="1661823"/>
            <a:ext cx="9144000" cy="1848140"/>
          </a:xfrm>
        </p:spPr>
        <p:txBody>
          <a:bodyPr anchor="b"/>
          <a:lstStyle>
            <a:lvl1pPr algn="ctr">
              <a:defRPr sz="4800"/>
            </a:lvl1pPr>
          </a:lstStyle>
          <a:p>
            <a:r>
              <a:rPr lang="es-ES" dirty="0"/>
              <a:t>Haga clic para modificar el estilo de título del patrón</a:t>
            </a:r>
            <a:endParaRPr lang="es-CO" dirty="0"/>
          </a:p>
        </p:txBody>
      </p:sp>
      <p:sp>
        <p:nvSpPr>
          <p:cNvPr id="3" name="Subtítulo 2">
            <a:extLst>
              <a:ext uri="{FF2B5EF4-FFF2-40B4-BE49-F238E27FC236}">
                <a16:creationId xmlns:a16="http://schemas.microsoft.com/office/drawing/2014/main" id="{E93D19E7-4D3E-2449-A451-16AFB6ABE9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endParaRPr lang="es-CO" dirty="0"/>
          </a:p>
        </p:txBody>
      </p:sp>
      <p:sp>
        <p:nvSpPr>
          <p:cNvPr id="4" name="Marcador de fecha 3">
            <a:extLst>
              <a:ext uri="{FF2B5EF4-FFF2-40B4-BE49-F238E27FC236}">
                <a16:creationId xmlns:a16="http://schemas.microsoft.com/office/drawing/2014/main" id="{35EF7908-A0FA-824F-A02B-06B221D6A788}"/>
              </a:ext>
            </a:extLst>
          </p:cNvPr>
          <p:cNvSpPr>
            <a:spLocks noGrp="1"/>
          </p:cNvSpPr>
          <p:nvPr>
            <p:ph type="dt" sz="half" idx="10"/>
          </p:nvPr>
        </p:nvSpPr>
        <p:spPr>
          <a:xfrm>
            <a:off x="838200" y="6356350"/>
            <a:ext cx="2743200" cy="365125"/>
          </a:xfrm>
          <a:prstGeom prst="rect">
            <a:avLst/>
          </a:prstGeom>
        </p:spPr>
        <p:txBody>
          <a:bodyPr/>
          <a:lstStyle/>
          <a:p>
            <a:fld id="{B439FC3C-4827-A245-A81F-F62E3B329FB4}" type="datetimeFigureOut">
              <a:rPr lang="es-CO" smtClean="0"/>
              <a:t>20/03/2024</a:t>
            </a:fld>
            <a:endParaRPr lang="es-CO"/>
          </a:p>
        </p:txBody>
      </p:sp>
      <p:sp>
        <p:nvSpPr>
          <p:cNvPr id="5" name="Marcador de pie de página 4">
            <a:extLst>
              <a:ext uri="{FF2B5EF4-FFF2-40B4-BE49-F238E27FC236}">
                <a16:creationId xmlns:a16="http://schemas.microsoft.com/office/drawing/2014/main" id="{8FF24743-16EB-9541-898C-087A5963BB50}"/>
              </a:ext>
            </a:extLst>
          </p:cNvPr>
          <p:cNvSpPr>
            <a:spLocks noGrp="1"/>
          </p:cNvSpPr>
          <p:nvPr>
            <p:ph type="ftr" sz="quarter" idx="11"/>
          </p:nvPr>
        </p:nvSpPr>
        <p:spPr>
          <a:xfrm>
            <a:off x="4038600" y="6356350"/>
            <a:ext cx="4114800" cy="365125"/>
          </a:xfrm>
          <a:prstGeom prst="rect">
            <a:avLst/>
          </a:prstGeom>
        </p:spPr>
        <p:txBody>
          <a:bodyPr/>
          <a:lstStyle/>
          <a:p>
            <a:endParaRPr lang="es-CO" dirty="0"/>
          </a:p>
        </p:txBody>
      </p:sp>
      <p:sp>
        <p:nvSpPr>
          <p:cNvPr id="6" name="Marcador de número de diapositiva 5">
            <a:extLst>
              <a:ext uri="{FF2B5EF4-FFF2-40B4-BE49-F238E27FC236}">
                <a16:creationId xmlns:a16="http://schemas.microsoft.com/office/drawing/2014/main" id="{D38F6150-0C96-404E-96E9-64685BA05ED8}"/>
              </a:ext>
            </a:extLst>
          </p:cNvPr>
          <p:cNvSpPr>
            <a:spLocks noGrp="1"/>
          </p:cNvSpPr>
          <p:nvPr>
            <p:ph type="sldNum" sz="quarter" idx="12"/>
          </p:nvPr>
        </p:nvSpPr>
        <p:spPr>
          <a:xfrm>
            <a:off x="8610600" y="6356350"/>
            <a:ext cx="2743200" cy="365125"/>
          </a:xfrm>
          <a:prstGeom prst="rect">
            <a:avLst/>
          </a:prstGeom>
        </p:spPr>
        <p:txBody>
          <a:bodyPr/>
          <a:lstStyle/>
          <a:p>
            <a:fld id="{6F0C0921-2E22-C849-88EF-5DBFE4AA72D3}" type="slidenum">
              <a:rPr lang="es-CO" smtClean="0"/>
              <a:t>‹#›</a:t>
            </a:fld>
            <a:endParaRPr lang="es-CO"/>
          </a:p>
        </p:txBody>
      </p:sp>
    </p:spTree>
    <p:extLst>
      <p:ext uri="{BB962C8B-B14F-4D97-AF65-F5344CB8AC3E}">
        <p14:creationId xmlns:p14="http://schemas.microsoft.com/office/powerpoint/2010/main" val="2431317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6A1D56-9751-4D42-AB00-8CE0891A7578}"/>
              </a:ext>
            </a:extLst>
          </p:cNvPr>
          <p:cNvSpPr>
            <a:spLocks noGrp="1"/>
          </p:cNvSpPr>
          <p:nvPr>
            <p:ph type="title"/>
          </p:nvPr>
        </p:nvSpPr>
        <p:spPr>
          <a:xfrm>
            <a:off x="3459127" y="412833"/>
            <a:ext cx="7894674" cy="843473"/>
          </a:xfrm>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3717309-F0C9-DF4B-90AA-FA80420EFED1}"/>
              </a:ext>
            </a:extLst>
          </p:cNvPr>
          <p:cNvSpPr>
            <a:spLocks noGrp="1"/>
          </p:cNvSpPr>
          <p:nvPr>
            <p:ph idx="1"/>
          </p:nvPr>
        </p:nvSpPr>
        <p:spPr/>
        <p:txBody>
          <a:bodyPr/>
          <a:lstStyle/>
          <a:p>
            <a:r>
              <a:rPr lang="es-ES"/>
              <a:t>Editar los estilos de texto del patrón
Segundo nivel
Tercer nivel
Cuarto nivel
Quinto nivel</a:t>
            </a:r>
            <a:endParaRPr lang="es-CO"/>
          </a:p>
        </p:txBody>
      </p:sp>
      <p:sp>
        <p:nvSpPr>
          <p:cNvPr id="4" name="Marcador de fecha 3">
            <a:extLst>
              <a:ext uri="{FF2B5EF4-FFF2-40B4-BE49-F238E27FC236}">
                <a16:creationId xmlns:a16="http://schemas.microsoft.com/office/drawing/2014/main" id="{5A56079F-6D13-7F49-912E-41EB66A59C2F}"/>
              </a:ext>
            </a:extLst>
          </p:cNvPr>
          <p:cNvSpPr>
            <a:spLocks noGrp="1"/>
          </p:cNvSpPr>
          <p:nvPr>
            <p:ph type="dt" sz="half" idx="10"/>
          </p:nvPr>
        </p:nvSpPr>
        <p:spPr>
          <a:xfrm>
            <a:off x="838200" y="6356350"/>
            <a:ext cx="2743200" cy="365125"/>
          </a:xfrm>
          <a:prstGeom prst="rect">
            <a:avLst/>
          </a:prstGeom>
        </p:spPr>
        <p:txBody>
          <a:bodyPr/>
          <a:lstStyle/>
          <a:p>
            <a:fld id="{B439FC3C-4827-A245-A81F-F62E3B329FB4}" type="datetimeFigureOut">
              <a:rPr lang="es-CO" smtClean="0"/>
              <a:t>20/03/2024</a:t>
            </a:fld>
            <a:endParaRPr lang="es-CO"/>
          </a:p>
        </p:txBody>
      </p:sp>
      <p:sp>
        <p:nvSpPr>
          <p:cNvPr id="5" name="Marcador de pie de página 4">
            <a:extLst>
              <a:ext uri="{FF2B5EF4-FFF2-40B4-BE49-F238E27FC236}">
                <a16:creationId xmlns:a16="http://schemas.microsoft.com/office/drawing/2014/main" id="{95EF5998-0C0D-EA47-B7E0-372E499A5E39}"/>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6" name="Marcador de número de diapositiva 5">
            <a:extLst>
              <a:ext uri="{FF2B5EF4-FFF2-40B4-BE49-F238E27FC236}">
                <a16:creationId xmlns:a16="http://schemas.microsoft.com/office/drawing/2014/main" id="{9D10A490-A9B4-FE44-A6C1-120C26A52083}"/>
              </a:ext>
            </a:extLst>
          </p:cNvPr>
          <p:cNvSpPr>
            <a:spLocks noGrp="1"/>
          </p:cNvSpPr>
          <p:nvPr>
            <p:ph type="sldNum" sz="quarter" idx="12"/>
          </p:nvPr>
        </p:nvSpPr>
        <p:spPr>
          <a:xfrm>
            <a:off x="8610600" y="6356350"/>
            <a:ext cx="2743200" cy="365125"/>
          </a:xfrm>
          <a:prstGeom prst="rect">
            <a:avLst/>
          </a:prstGeom>
        </p:spPr>
        <p:txBody>
          <a:bodyPr/>
          <a:lstStyle/>
          <a:p>
            <a:fld id="{6F0C0921-2E22-C849-88EF-5DBFE4AA72D3}" type="slidenum">
              <a:rPr lang="es-CO" smtClean="0"/>
              <a:t>‹#›</a:t>
            </a:fld>
            <a:endParaRPr lang="es-CO"/>
          </a:p>
        </p:txBody>
      </p:sp>
    </p:spTree>
    <p:extLst>
      <p:ext uri="{BB962C8B-B14F-4D97-AF65-F5344CB8AC3E}">
        <p14:creationId xmlns:p14="http://schemas.microsoft.com/office/powerpoint/2010/main" val="3617659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648141-C1E2-834D-9420-674419BA4E14}"/>
              </a:ext>
            </a:extLst>
          </p:cNvPr>
          <p:cNvSpPr>
            <a:spLocks noGrp="1"/>
          </p:cNvSpPr>
          <p:nvPr>
            <p:ph type="title"/>
          </p:nvPr>
        </p:nvSpPr>
        <p:spPr>
          <a:xfrm>
            <a:off x="3487479" y="412833"/>
            <a:ext cx="8025346" cy="843473"/>
          </a:xfrm>
        </p:spPr>
        <p:txBody>
          <a:bodyPr/>
          <a:lstStyle/>
          <a:p>
            <a:r>
              <a:rPr lang="es-ES" dirty="0"/>
              <a:t>Haga clic para modificar el estilo de título del patrón</a:t>
            </a:r>
            <a:endParaRPr lang="es-CO" dirty="0"/>
          </a:p>
        </p:txBody>
      </p:sp>
      <p:sp>
        <p:nvSpPr>
          <p:cNvPr id="3" name="Marcador de contenido 2">
            <a:extLst>
              <a:ext uri="{FF2B5EF4-FFF2-40B4-BE49-F238E27FC236}">
                <a16:creationId xmlns:a16="http://schemas.microsoft.com/office/drawing/2014/main" id="{A87811F7-DE2A-4840-ADA3-5D5D7E8547A5}"/>
              </a:ext>
            </a:extLst>
          </p:cNvPr>
          <p:cNvSpPr>
            <a:spLocks noGrp="1"/>
          </p:cNvSpPr>
          <p:nvPr>
            <p:ph sz="half" idx="1"/>
          </p:nvPr>
        </p:nvSpPr>
        <p:spPr>
          <a:xfrm>
            <a:off x="814346" y="1825626"/>
            <a:ext cx="5181600" cy="3851606"/>
          </a:xfrm>
        </p:spPr>
        <p:txBody>
          <a:bodyPr/>
          <a:lstStyle/>
          <a:p>
            <a:r>
              <a:rPr lang="es-ES"/>
              <a:t>Editar los estilos de texto del patrón
Segundo nivel
Tercer nivel
Cuarto nivel
Quinto nivel</a:t>
            </a:r>
            <a:endParaRPr lang="es-CO"/>
          </a:p>
        </p:txBody>
      </p:sp>
      <p:sp>
        <p:nvSpPr>
          <p:cNvPr id="4" name="Marcador de contenido 3">
            <a:extLst>
              <a:ext uri="{FF2B5EF4-FFF2-40B4-BE49-F238E27FC236}">
                <a16:creationId xmlns:a16="http://schemas.microsoft.com/office/drawing/2014/main" id="{68707B3E-8233-D14C-BA7F-638E3F1FBB0D}"/>
              </a:ext>
            </a:extLst>
          </p:cNvPr>
          <p:cNvSpPr>
            <a:spLocks noGrp="1"/>
          </p:cNvSpPr>
          <p:nvPr>
            <p:ph sz="half" idx="2"/>
          </p:nvPr>
        </p:nvSpPr>
        <p:spPr>
          <a:xfrm>
            <a:off x="6172200" y="1825625"/>
            <a:ext cx="5181600" cy="3851606"/>
          </a:xfrm>
        </p:spPr>
        <p:txBody>
          <a:bodyPr/>
          <a:lstStyle/>
          <a:p>
            <a:r>
              <a:rPr lang="es-ES"/>
              <a:t>Editar los estilos de texto del patrón
Segundo nivel
Tercer nivel
Cuarto nivel
Quinto nivel</a:t>
            </a:r>
            <a:endParaRPr lang="es-CO"/>
          </a:p>
        </p:txBody>
      </p:sp>
    </p:spTree>
    <p:extLst>
      <p:ext uri="{BB962C8B-B14F-4D97-AF65-F5344CB8AC3E}">
        <p14:creationId xmlns:p14="http://schemas.microsoft.com/office/powerpoint/2010/main" val="81207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6" name="Marcador de contenido 3">
            <a:extLst>
              <a:ext uri="{FF2B5EF4-FFF2-40B4-BE49-F238E27FC236}">
                <a16:creationId xmlns:a16="http://schemas.microsoft.com/office/drawing/2014/main" id="{D7AAD9B6-F983-4F40-9D8B-9CC39FDF6BD5}"/>
              </a:ext>
            </a:extLst>
          </p:cNvPr>
          <p:cNvSpPr>
            <a:spLocks noGrp="1"/>
          </p:cNvSpPr>
          <p:nvPr>
            <p:ph sz="half" idx="2"/>
          </p:nvPr>
        </p:nvSpPr>
        <p:spPr>
          <a:xfrm>
            <a:off x="731520" y="1367624"/>
            <a:ext cx="10622280" cy="4309607"/>
          </a:xfrm>
        </p:spPr>
        <p:txBody>
          <a:bodyPr/>
          <a:lstStyle/>
          <a:p>
            <a:r>
              <a:rPr lang="es-ES"/>
              <a:t>Editar los estilos de texto del patrón
Segundo nivel
Tercer nivel
Cuarto nivel
Quinto nivel</a:t>
            </a:r>
            <a:endParaRPr lang="es-CO"/>
          </a:p>
        </p:txBody>
      </p:sp>
    </p:spTree>
    <p:extLst>
      <p:ext uri="{BB962C8B-B14F-4D97-AF65-F5344CB8AC3E}">
        <p14:creationId xmlns:p14="http://schemas.microsoft.com/office/powerpoint/2010/main" val="1280352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051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1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3AE525-427B-BD42-90EF-EAFDD42AB61F}"/>
              </a:ext>
            </a:extLst>
          </p:cNvPr>
          <p:cNvSpPr>
            <a:spLocks noGrp="1"/>
          </p:cNvSpPr>
          <p:nvPr>
            <p:ph type="title"/>
          </p:nvPr>
        </p:nvSpPr>
        <p:spPr/>
        <p:txBody>
          <a:bodyPr/>
          <a:lstStyle/>
          <a:p>
            <a:r>
              <a:rPr lang="es-ES"/>
              <a:t>Haga clic para modificar el estilo de título del patrón</a:t>
            </a:r>
            <a:endParaRPr lang="es-CO"/>
          </a:p>
        </p:txBody>
      </p:sp>
      <p:pic>
        <p:nvPicPr>
          <p:cNvPr id="4" name="Imagen 3">
            <a:extLst>
              <a:ext uri="{FF2B5EF4-FFF2-40B4-BE49-F238E27FC236}">
                <a16:creationId xmlns:a16="http://schemas.microsoft.com/office/drawing/2014/main" id="{2FCBDFAB-192E-7645-BFCC-F076B540CBAC}"/>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29371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9256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7.xml"/><Relationship Id="rId4" Type="http://schemas.openxmlformats.org/officeDocument/2006/relationships/image" Target="../media/image5.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5E703E7-8DD9-EA41-B94D-76F7AD544C4F}"/>
              </a:ext>
            </a:extLst>
          </p:cNvPr>
          <p:cNvSpPr>
            <a:spLocks noGrp="1"/>
          </p:cNvSpPr>
          <p:nvPr>
            <p:ph type="title"/>
          </p:nvPr>
        </p:nvSpPr>
        <p:spPr>
          <a:xfrm>
            <a:off x="2138900" y="412833"/>
            <a:ext cx="9373925" cy="843473"/>
          </a:xfrm>
          <a:prstGeom prst="rect">
            <a:avLst/>
          </a:prstGeom>
        </p:spPr>
        <p:txBody>
          <a:bodyPr vert="horz" lIns="91440" tIns="45720" rIns="91440" bIns="45720" rtlCol="0" anchor="ctr">
            <a:noAutofit/>
          </a:bodyPr>
          <a:lstStyle/>
          <a:p>
            <a:r>
              <a:rPr lang="es-ES" dirty="0"/>
              <a:t>Haga clic para modificar el estilo de título del patrón</a:t>
            </a:r>
            <a:endParaRPr lang="es-CO" dirty="0"/>
          </a:p>
        </p:txBody>
      </p:sp>
      <p:sp>
        <p:nvSpPr>
          <p:cNvPr id="3" name="Marcador de texto 2">
            <a:extLst>
              <a:ext uri="{FF2B5EF4-FFF2-40B4-BE49-F238E27FC236}">
                <a16:creationId xmlns:a16="http://schemas.microsoft.com/office/drawing/2014/main" id="{80FCEC04-A456-1442-9E80-E6998191BB08}"/>
              </a:ext>
            </a:extLst>
          </p:cNvPr>
          <p:cNvSpPr>
            <a:spLocks noGrp="1"/>
          </p:cNvSpPr>
          <p:nvPr>
            <p:ph type="body" idx="1"/>
          </p:nvPr>
        </p:nvSpPr>
        <p:spPr>
          <a:xfrm>
            <a:off x="838200" y="1825625"/>
            <a:ext cx="10515600" cy="3859558"/>
          </a:xfrm>
          <a:prstGeom prst="rect">
            <a:avLst/>
          </a:prstGeom>
        </p:spPr>
        <p:txBody>
          <a:bodyPr vert="horz" lIns="91440" tIns="45720" rIns="91440" bIns="45720" rtlCol="0">
            <a:normAutofit/>
          </a:bodyPr>
          <a:lstStyle/>
          <a:p>
            <a:r>
              <a:rPr lang="es-ES" dirty="0"/>
              <a:t>Editar los estilos de texto del patrón
Segundo nivel
Tercer nivel
Cuarto nivel
Quinto nivel</a:t>
            </a:r>
            <a:endParaRPr lang="es-CO" dirty="0"/>
          </a:p>
        </p:txBody>
      </p:sp>
      <p:pic>
        <p:nvPicPr>
          <p:cNvPr id="5" name="Imagen 4">
            <a:extLst>
              <a:ext uri="{FF2B5EF4-FFF2-40B4-BE49-F238E27FC236}">
                <a16:creationId xmlns:a16="http://schemas.microsoft.com/office/drawing/2014/main" id="{6FDD4374-F271-F24B-B605-5E6D32E116CD}"/>
              </a:ext>
            </a:extLst>
          </p:cNvPr>
          <p:cNvPicPr>
            <a:picLocks noChangeAspect="1"/>
          </p:cNvPicPr>
          <p:nvPr userDrawn="1"/>
        </p:nvPicPr>
        <p:blipFill>
          <a:blip r:embed="rId9"/>
          <a:stretch>
            <a:fillRect/>
          </a:stretch>
        </p:blipFill>
        <p:spPr>
          <a:xfrm>
            <a:off x="0" y="0"/>
            <a:ext cx="12192000" cy="6858000"/>
          </a:xfrm>
          <a:prstGeom prst="rect">
            <a:avLst/>
          </a:prstGeom>
        </p:spPr>
      </p:pic>
    </p:spTree>
    <p:extLst>
      <p:ext uri="{BB962C8B-B14F-4D97-AF65-F5344CB8AC3E}">
        <p14:creationId xmlns:p14="http://schemas.microsoft.com/office/powerpoint/2010/main" val="207117177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9" r:id="rId3"/>
    <p:sldLayoutId id="2147483691" r:id="rId4"/>
    <p:sldLayoutId id="2147483692" r:id="rId5"/>
    <p:sldLayoutId id="2147483699" r:id="rId6"/>
  </p:sldLayoutIdLst>
  <p:txStyles>
    <p:titleStyle>
      <a:lvl1pPr algn="ctr" defTabSz="914400" rtl="0" eaLnBrk="1" latinLnBrk="0" hangingPunct="1">
        <a:lnSpc>
          <a:spcPct val="90000"/>
        </a:lnSpc>
        <a:spcBef>
          <a:spcPct val="0"/>
        </a:spcBef>
        <a:buNone/>
        <a:defRPr sz="3600" b="1" kern="1200">
          <a:solidFill>
            <a:schemeClr val="tx1">
              <a:lumMod val="65000"/>
              <a:lumOff val="35000"/>
            </a:schemeClr>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C67C5A3-2611-3844-87A0-291D00B38C6E}"/>
              </a:ext>
            </a:extLst>
          </p:cNvPr>
          <p:cNvPicPr>
            <a:picLocks noChangeAspect="1"/>
          </p:cNvPicPr>
          <p:nvPr userDrawn="1"/>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1352497617"/>
      </p:ext>
    </p:extLst>
  </p:cSld>
  <p:clrMap bg1="lt1" tx1="dk1" bg2="lt2" tx2="dk2" accent1="accent1" accent2="accent2" accent3="accent3" accent4="accent4" accent5="accent5" accent6="accent6" hlink="hlink" folHlink="folHlink"/>
  <p:sldLayoutIdLst>
    <p:sldLayoutId id="214748369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2CD5CD-BC3C-1543-A8C8-F2BD6E1093AE}"/>
              </a:ext>
            </a:extLst>
          </p:cNvPr>
          <p:cNvSpPr>
            <a:spLocks noGrp="1"/>
          </p:cNvSpPr>
          <p:nvPr>
            <p:ph type="title"/>
          </p:nvPr>
        </p:nvSpPr>
        <p:spPr>
          <a:xfrm>
            <a:off x="1416138" y="1899821"/>
            <a:ext cx="9373925" cy="4210530"/>
          </a:xfrm>
        </p:spPr>
        <p:txBody>
          <a:bodyPr/>
          <a:lstStyle/>
          <a:p>
            <a:r>
              <a:rPr lang="es-ES" sz="4000" dirty="0">
                <a:solidFill>
                  <a:schemeClr val="bg1"/>
                </a:solidFill>
              </a:rPr>
              <a:t>MICROCONTROLADORES</a:t>
            </a:r>
            <a:br>
              <a:rPr lang="es-ES" sz="4000" dirty="0">
                <a:solidFill>
                  <a:schemeClr val="bg1"/>
                </a:solidFill>
              </a:rPr>
            </a:br>
            <a:r>
              <a:rPr lang="es-ES" sz="4000" dirty="0">
                <a:solidFill>
                  <a:schemeClr val="bg1"/>
                </a:solidFill>
              </a:rPr>
              <a:t>ADC-DAC</a:t>
            </a:r>
            <a:br>
              <a:rPr lang="es-ES" sz="4000" dirty="0">
                <a:solidFill>
                  <a:schemeClr val="bg1"/>
                </a:solidFill>
              </a:rPr>
            </a:br>
            <a:br>
              <a:rPr lang="es-ES" sz="2800" dirty="0">
                <a:solidFill>
                  <a:schemeClr val="bg1"/>
                </a:solidFill>
              </a:rPr>
            </a:br>
            <a:r>
              <a:rPr lang="es-ES" sz="2400" dirty="0">
                <a:solidFill>
                  <a:schemeClr val="bg1"/>
                </a:solidFill>
              </a:rPr>
              <a:t>Yomin Estiven Jaramillo Múnera</a:t>
            </a:r>
            <a:br>
              <a:rPr lang="es-ES" sz="2400" dirty="0">
                <a:solidFill>
                  <a:schemeClr val="bg1"/>
                </a:solidFill>
              </a:rPr>
            </a:br>
            <a:br>
              <a:rPr lang="es-ES" sz="2400" dirty="0">
                <a:solidFill>
                  <a:schemeClr val="bg1"/>
                </a:solidFill>
              </a:rPr>
            </a:br>
            <a:r>
              <a:rPr lang="es-ES" sz="2400" dirty="0">
                <a:solidFill>
                  <a:schemeClr val="bg1"/>
                </a:solidFill>
              </a:rPr>
              <a:t>Ingeniero Biomédico</a:t>
            </a:r>
            <a:br>
              <a:rPr lang="es-ES" sz="2400" dirty="0">
                <a:solidFill>
                  <a:schemeClr val="bg1"/>
                </a:solidFill>
              </a:rPr>
            </a:br>
            <a:br>
              <a:rPr lang="es-ES" sz="2400" dirty="0">
                <a:solidFill>
                  <a:schemeClr val="bg1"/>
                </a:solidFill>
              </a:rPr>
            </a:br>
            <a:r>
              <a:rPr lang="es-ES" sz="2400" dirty="0" err="1">
                <a:solidFill>
                  <a:schemeClr val="bg1"/>
                </a:solidFill>
              </a:rPr>
              <a:t>MSc</a:t>
            </a:r>
            <a:r>
              <a:rPr lang="es-ES" sz="2400" dirty="0">
                <a:solidFill>
                  <a:schemeClr val="bg1"/>
                </a:solidFill>
              </a:rPr>
              <a:t>. Automatización y Control Industrial</a:t>
            </a:r>
            <a:br>
              <a:rPr lang="es-ES" sz="2400" dirty="0">
                <a:solidFill>
                  <a:schemeClr val="bg1"/>
                </a:solidFill>
              </a:rPr>
            </a:br>
            <a:br>
              <a:rPr lang="es-ES" sz="2400" dirty="0">
                <a:solidFill>
                  <a:schemeClr val="bg1"/>
                </a:solidFill>
              </a:rPr>
            </a:br>
            <a:endParaRPr lang="es-CO" sz="2400" u="sng" dirty="0">
              <a:solidFill>
                <a:schemeClr val="bg1"/>
              </a:solidFill>
            </a:endParaRPr>
          </a:p>
        </p:txBody>
      </p:sp>
      <p:sp>
        <p:nvSpPr>
          <p:cNvPr id="3" name="CuadroTexto 2">
            <a:extLst>
              <a:ext uri="{FF2B5EF4-FFF2-40B4-BE49-F238E27FC236}">
                <a16:creationId xmlns:a16="http://schemas.microsoft.com/office/drawing/2014/main" id="{3BD55C7F-971D-224B-AB85-0C3D835E587C}"/>
              </a:ext>
            </a:extLst>
          </p:cNvPr>
          <p:cNvSpPr txBox="1"/>
          <p:nvPr/>
        </p:nvSpPr>
        <p:spPr>
          <a:xfrm>
            <a:off x="1775901" y="687689"/>
            <a:ext cx="184731" cy="369332"/>
          </a:xfrm>
          <a:prstGeom prst="rect">
            <a:avLst/>
          </a:prstGeom>
          <a:noFill/>
        </p:spPr>
        <p:txBody>
          <a:bodyPr wrap="none" rtlCol="0">
            <a:spAutoFit/>
          </a:bodyPr>
          <a:lstStyle/>
          <a:p>
            <a:endParaRPr lang="es-CO" dirty="0"/>
          </a:p>
        </p:txBody>
      </p:sp>
    </p:spTree>
    <p:extLst>
      <p:ext uri="{BB962C8B-B14F-4D97-AF65-F5344CB8AC3E}">
        <p14:creationId xmlns:p14="http://schemas.microsoft.com/office/powerpoint/2010/main" val="3661789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89C2C-3C8A-D432-6DF1-E99C230DDC8D}"/>
              </a:ext>
            </a:extLst>
          </p:cNvPr>
          <p:cNvSpPr>
            <a:spLocks noGrp="1"/>
          </p:cNvSpPr>
          <p:nvPr>
            <p:ph type="title"/>
          </p:nvPr>
        </p:nvSpPr>
        <p:spPr/>
        <p:txBody>
          <a:bodyPr/>
          <a:lstStyle/>
          <a:p>
            <a:r>
              <a:rPr lang="es-ES" dirty="0" err="1"/>
              <a:t>Analog</a:t>
            </a:r>
            <a:r>
              <a:rPr lang="es-ES" dirty="0"/>
              <a:t> </a:t>
            </a:r>
            <a:r>
              <a:rPr lang="es-ES" dirty="0" err="1"/>
              <a:t>to</a:t>
            </a:r>
            <a:r>
              <a:rPr lang="es-ES" dirty="0"/>
              <a:t> Digital </a:t>
            </a:r>
            <a:r>
              <a:rPr lang="es-ES" dirty="0" err="1"/>
              <a:t>Converter</a:t>
            </a:r>
            <a:r>
              <a:rPr lang="es-ES" dirty="0"/>
              <a:t> ADC</a:t>
            </a:r>
            <a:endParaRPr lang="es-CO" dirty="0"/>
          </a:p>
        </p:txBody>
      </p:sp>
      <p:sp>
        <p:nvSpPr>
          <p:cNvPr id="3" name="Content Placeholder 2">
            <a:extLst>
              <a:ext uri="{FF2B5EF4-FFF2-40B4-BE49-F238E27FC236}">
                <a16:creationId xmlns:a16="http://schemas.microsoft.com/office/drawing/2014/main" id="{3EAEBFA0-7171-6702-3736-82040AAAABB3}"/>
              </a:ext>
            </a:extLst>
          </p:cNvPr>
          <p:cNvSpPr>
            <a:spLocks noGrp="1"/>
          </p:cNvSpPr>
          <p:nvPr>
            <p:ph idx="1"/>
          </p:nvPr>
        </p:nvSpPr>
        <p:spPr>
          <a:xfrm>
            <a:off x="838200" y="1825625"/>
            <a:ext cx="10928230" cy="3859558"/>
          </a:xfrm>
        </p:spPr>
        <p:txBody>
          <a:bodyPr>
            <a:normAutofit/>
          </a:bodyPr>
          <a:lstStyle/>
          <a:p>
            <a:pPr algn="just"/>
            <a:r>
              <a:rPr lang="es-CO" b="0" i="0" dirty="0">
                <a:solidFill>
                  <a:srgbClr val="374151"/>
                </a:solidFill>
                <a:effectLst/>
                <a:latin typeface="Söhne"/>
              </a:rPr>
              <a:t>Un puerto ADC (</a:t>
            </a:r>
            <a:r>
              <a:rPr lang="es-CO" b="0" i="0" dirty="0" err="1">
                <a:solidFill>
                  <a:srgbClr val="374151"/>
                </a:solidFill>
                <a:effectLst/>
                <a:latin typeface="Söhne"/>
              </a:rPr>
              <a:t>Analog</a:t>
            </a:r>
            <a:r>
              <a:rPr lang="es-CO" b="0" i="0" dirty="0">
                <a:solidFill>
                  <a:srgbClr val="374151"/>
                </a:solidFill>
                <a:effectLst/>
                <a:latin typeface="Söhne"/>
              </a:rPr>
              <a:t>-</a:t>
            </a:r>
            <a:r>
              <a:rPr lang="es-CO" b="0" i="0" dirty="0" err="1">
                <a:solidFill>
                  <a:srgbClr val="374151"/>
                </a:solidFill>
                <a:effectLst/>
                <a:latin typeface="Söhne"/>
              </a:rPr>
              <a:t>to</a:t>
            </a:r>
            <a:r>
              <a:rPr lang="es-CO" b="0" i="0" dirty="0">
                <a:solidFill>
                  <a:srgbClr val="374151"/>
                </a:solidFill>
                <a:effectLst/>
                <a:latin typeface="Söhne"/>
              </a:rPr>
              <a:t>-Digital </a:t>
            </a:r>
            <a:r>
              <a:rPr lang="es-CO" b="0" i="0" dirty="0" err="1">
                <a:solidFill>
                  <a:srgbClr val="374151"/>
                </a:solidFill>
                <a:effectLst/>
                <a:latin typeface="Söhne"/>
              </a:rPr>
              <a:t>Converter</a:t>
            </a:r>
            <a:r>
              <a:rPr lang="es-CO" b="0" i="0" dirty="0">
                <a:solidFill>
                  <a:srgbClr val="374151"/>
                </a:solidFill>
                <a:effectLst/>
                <a:latin typeface="Söhne"/>
              </a:rPr>
              <a:t>, en inglés) en un microcontrolador es una interfaz que permite convertir una señal analógica en una señal digital, para que pueda ser procesada por el microcontrolador.</a:t>
            </a:r>
          </a:p>
          <a:p>
            <a:pPr algn="just"/>
            <a:r>
              <a:rPr lang="es-CO" b="0" i="0" dirty="0">
                <a:solidFill>
                  <a:srgbClr val="374151"/>
                </a:solidFill>
                <a:effectLst/>
                <a:latin typeface="Söhne"/>
              </a:rPr>
              <a:t>El puerto ADC toma una señal analógica continua y la divide en varios pasos discretos, representando cada uno de ellos con un valor binario. Estos valores se pueden utilizar para medir y controlar magnitudes físicas, como la temperatura, la luz, la presión, entre otros.</a:t>
            </a:r>
          </a:p>
          <a:p>
            <a:endParaRPr lang="es-CO" dirty="0"/>
          </a:p>
        </p:txBody>
      </p:sp>
      <p:pic>
        <p:nvPicPr>
          <p:cNvPr id="1026" name="Picture 2" descr="Chapter 20: Analog to Digital Conversion [Analog Devices Wiki]">
            <a:extLst>
              <a:ext uri="{FF2B5EF4-FFF2-40B4-BE49-F238E27FC236}">
                <a16:creationId xmlns:a16="http://schemas.microsoft.com/office/drawing/2014/main" id="{74ABD485-96E3-81CD-0ADF-83CA7E9879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5790" y="4524410"/>
            <a:ext cx="9201249" cy="2321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587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89C2C-3C8A-D432-6DF1-E99C230DDC8D}"/>
              </a:ext>
            </a:extLst>
          </p:cNvPr>
          <p:cNvSpPr>
            <a:spLocks noGrp="1"/>
          </p:cNvSpPr>
          <p:nvPr>
            <p:ph type="title"/>
          </p:nvPr>
        </p:nvSpPr>
        <p:spPr/>
        <p:txBody>
          <a:bodyPr/>
          <a:lstStyle/>
          <a:p>
            <a:r>
              <a:rPr lang="es-ES" dirty="0" err="1"/>
              <a:t>Analog</a:t>
            </a:r>
            <a:r>
              <a:rPr lang="es-ES" dirty="0"/>
              <a:t> </a:t>
            </a:r>
            <a:r>
              <a:rPr lang="es-ES" dirty="0" err="1"/>
              <a:t>to</a:t>
            </a:r>
            <a:r>
              <a:rPr lang="es-ES" dirty="0"/>
              <a:t> Digital </a:t>
            </a:r>
            <a:r>
              <a:rPr lang="es-ES" dirty="0" err="1"/>
              <a:t>Converter</a:t>
            </a:r>
            <a:r>
              <a:rPr lang="es-ES" dirty="0"/>
              <a:t> ADC</a:t>
            </a:r>
            <a:endParaRPr lang="es-CO" dirty="0"/>
          </a:p>
        </p:txBody>
      </p:sp>
      <p:sp>
        <p:nvSpPr>
          <p:cNvPr id="3" name="Content Placeholder 2">
            <a:extLst>
              <a:ext uri="{FF2B5EF4-FFF2-40B4-BE49-F238E27FC236}">
                <a16:creationId xmlns:a16="http://schemas.microsoft.com/office/drawing/2014/main" id="{3EAEBFA0-7171-6702-3736-82040AAAABB3}"/>
              </a:ext>
            </a:extLst>
          </p:cNvPr>
          <p:cNvSpPr>
            <a:spLocks noGrp="1"/>
          </p:cNvSpPr>
          <p:nvPr>
            <p:ph idx="1"/>
          </p:nvPr>
        </p:nvSpPr>
        <p:spPr>
          <a:xfrm>
            <a:off x="838200" y="1825625"/>
            <a:ext cx="4719697" cy="3859558"/>
          </a:xfrm>
        </p:spPr>
        <p:txBody>
          <a:bodyPr>
            <a:normAutofit fontScale="92500"/>
          </a:bodyPr>
          <a:lstStyle/>
          <a:p>
            <a:pPr algn="just"/>
            <a:r>
              <a:rPr lang="es-CO" b="0" i="0" dirty="0">
                <a:solidFill>
                  <a:srgbClr val="374151"/>
                </a:solidFill>
                <a:effectLst/>
                <a:latin typeface="Söhne"/>
              </a:rPr>
              <a:t>El microcontrolador puede tener uno o varios puertos ADC, dependiendo del modelo y las características de cada dispositivo. El número de bits del puerto ADC determina la precisión de la conversión y el rango de valores que se pueden representar. Los puertos ADC se utilizan comúnmente en aplicaciones que requieren la adquisición y procesamiento de señales analógicas, como sistemas de medición y control.</a:t>
            </a:r>
          </a:p>
          <a:p>
            <a:endParaRPr lang="es-CO" dirty="0"/>
          </a:p>
        </p:txBody>
      </p:sp>
      <p:pic>
        <p:nvPicPr>
          <p:cNvPr id="5" name="Picture 4">
            <a:extLst>
              <a:ext uri="{FF2B5EF4-FFF2-40B4-BE49-F238E27FC236}">
                <a16:creationId xmlns:a16="http://schemas.microsoft.com/office/drawing/2014/main" id="{C02FD303-6F11-DA8F-4496-33E26437AF0A}"/>
              </a:ext>
            </a:extLst>
          </p:cNvPr>
          <p:cNvPicPr>
            <a:picLocks noChangeAspect="1"/>
          </p:cNvPicPr>
          <p:nvPr/>
        </p:nvPicPr>
        <p:blipFill>
          <a:blip r:embed="rId2"/>
          <a:stretch>
            <a:fillRect/>
          </a:stretch>
        </p:blipFill>
        <p:spPr>
          <a:xfrm>
            <a:off x="5557897" y="1885224"/>
            <a:ext cx="6634104" cy="3799959"/>
          </a:xfrm>
          <a:prstGeom prst="rect">
            <a:avLst/>
          </a:prstGeom>
        </p:spPr>
      </p:pic>
    </p:spTree>
    <p:extLst>
      <p:ext uri="{BB962C8B-B14F-4D97-AF65-F5344CB8AC3E}">
        <p14:creationId xmlns:p14="http://schemas.microsoft.com/office/powerpoint/2010/main" val="2315309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89C2C-3C8A-D432-6DF1-E99C230DDC8D}"/>
              </a:ext>
            </a:extLst>
          </p:cNvPr>
          <p:cNvSpPr>
            <a:spLocks noGrp="1"/>
          </p:cNvSpPr>
          <p:nvPr>
            <p:ph type="title"/>
          </p:nvPr>
        </p:nvSpPr>
        <p:spPr/>
        <p:txBody>
          <a:bodyPr/>
          <a:lstStyle/>
          <a:p>
            <a:r>
              <a:rPr lang="es-ES" dirty="0" err="1"/>
              <a:t>Analog</a:t>
            </a:r>
            <a:r>
              <a:rPr lang="es-ES" dirty="0"/>
              <a:t> </a:t>
            </a:r>
            <a:r>
              <a:rPr lang="es-ES" dirty="0" err="1"/>
              <a:t>to</a:t>
            </a:r>
            <a:r>
              <a:rPr lang="es-ES" dirty="0"/>
              <a:t> Digital </a:t>
            </a:r>
            <a:r>
              <a:rPr lang="es-ES" dirty="0" err="1"/>
              <a:t>Converter</a:t>
            </a:r>
            <a:r>
              <a:rPr lang="es-ES" dirty="0"/>
              <a:t> ADC</a:t>
            </a:r>
            <a:endParaRPr lang="es-CO" dirty="0"/>
          </a:p>
        </p:txBody>
      </p:sp>
      <p:sp>
        <p:nvSpPr>
          <p:cNvPr id="3" name="Content Placeholder 2">
            <a:extLst>
              <a:ext uri="{FF2B5EF4-FFF2-40B4-BE49-F238E27FC236}">
                <a16:creationId xmlns:a16="http://schemas.microsoft.com/office/drawing/2014/main" id="{3EAEBFA0-7171-6702-3736-82040AAAABB3}"/>
              </a:ext>
            </a:extLst>
          </p:cNvPr>
          <p:cNvSpPr>
            <a:spLocks noGrp="1"/>
          </p:cNvSpPr>
          <p:nvPr>
            <p:ph idx="1"/>
          </p:nvPr>
        </p:nvSpPr>
        <p:spPr>
          <a:xfrm>
            <a:off x="838200" y="1825625"/>
            <a:ext cx="10515601" cy="3859558"/>
          </a:xfrm>
        </p:spPr>
        <p:txBody>
          <a:bodyPr>
            <a:normAutofit/>
          </a:bodyPr>
          <a:lstStyle/>
          <a:p>
            <a:pPr algn="just"/>
            <a:r>
              <a:rPr lang="es-CO" b="0" i="0" dirty="0">
                <a:solidFill>
                  <a:srgbClr val="374151"/>
                </a:solidFill>
                <a:effectLst/>
                <a:latin typeface="Söhne"/>
              </a:rPr>
              <a:t>En el ESP32, la funcionalidad ADC está disponible en los pines 32-39 (bloque ADC 1) y los pines 0, 2, 4, 12-15 y 25-27 (bloque ADC 2). Para el uso de los puestos se debe usar el módulo ADC de machine</a:t>
            </a:r>
            <a:endParaRPr lang="es-CO" dirty="0"/>
          </a:p>
        </p:txBody>
      </p:sp>
      <p:pic>
        <p:nvPicPr>
          <p:cNvPr id="5" name="Picture 4">
            <a:extLst>
              <a:ext uri="{FF2B5EF4-FFF2-40B4-BE49-F238E27FC236}">
                <a16:creationId xmlns:a16="http://schemas.microsoft.com/office/drawing/2014/main" id="{479151B8-64CE-71FE-F164-F9FD49324A31}"/>
              </a:ext>
            </a:extLst>
          </p:cNvPr>
          <p:cNvPicPr>
            <a:picLocks noChangeAspect="1"/>
          </p:cNvPicPr>
          <p:nvPr/>
        </p:nvPicPr>
        <p:blipFill>
          <a:blip r:embed="rId2"/>
          <a:stretch>
            <a:fillRect/>
          </a:stretch>
        </p:blipFill>
        <p:spPr>
          <a:xfrm>
            <a:off x="838201" y="3372765"/>
            <a:ext cx="10515600" cy="2312418"/>
          </a:xfrm>
          <a:prstGeom prst="rect">
            <a:avLst/>
          </a:prstGeom>
        </p:spPr>
      </p:pic>
    </p:spTree>
    <p:extLst>
      <p:ext uri="{BB962C8B-B14F-4D97-AF65-F5344CB8AC3E}">
        <p14:creationId xmlns:p14="http://schemas.microsoft.com/office/powerpoint/2010/main" val="3500820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89C2C-3C8A-D432-6DF1-E99C230DDC8D}"/>
              </a:ext>
            </a:extLst>
          </p:cNvPr>
          <p:cNvSpPr>
            <a:spLocks noGrp="1"/>
          </p:cNvSpPr>
          <p:nvPr>
            <p:ph type="title"/>
          </p:nvPr>
        </p:nvSpPr>
        <p:spPr/>
        <p:txBody>
          <a:bodyPr/>
          <a:lstStyle/>
          <a:p>
            <a:r>
              <a:rPr lang="es-ES" dirty="0" err="1"/>
              <a:t>Analog</a:t>
            </a:r>
            <a:r>
              <a:rPr lang="es-ES" dirty="0"/>
              <a:t> </a:t>
            </a:r>
            <a:r>
              <a:rPr lang="es-ES" dirty="0" err="1"/>
              <a:t>to</a:t>
            </a:r>
            <a:r>
              <a:rPr lang="es-ES" dirty="0"/>
              <a:t> Digital </a:t>
            </a:r>
            <a:r>
              <a:rPr lang="es-ES" dirty="0" err="1"/>
              <a:t>Converter</a:t>
            </a:r>
            <a:r>
              <a:rPr lang="es-ES" dirty="0"/>
              <a:t> ADC</a:t>
            </a:r>
            <a:endParaRPr lang="es-CO" dirty="0"/>
          </a:p>
        </p:txBody>
      </p:sp>
      <p:sp>
        <p:nvSpPr>
          <p:cNvPr id="3" name="Content Placeholder 2">
            <a:extLst>
              <a:ext uri="{FF2B5EF4-FFF2-40B4-BE49-F238E27FC236}">
                <a16:creationId xmlns:a16="http://schemas.microsoft.com/office/drawing/2014/main" id="{3EAEBFA0-7171-6702-3736-82040AAAABB3}"/>
              </a:ext>
            </a:extLst>
          </p:cNvPr>
          <p:cNvSpPr>
            <a:spLocks noGrp="1"/>
          </p:cNvSpPr>
          <p:nvPr>
            <p:ph idx="1"/>
          </p:nvPr>
        </p:nvSpPr>
        <p:spPr>
          <a:xfrm>
            <a:off x="838200" y="1825625"/>
            <a:ext cx="5545347" cy="3859558"/>
          </a:xfrm>
        </p:spPr>
        <p:txBody>
          <a:bodyPr>
            <a:normAutofit/>
          </a:bodyPr>
          <a:lstStyle/>
          <a:p>
            <a:pPr algn="just"/>
            <a:r>
              <a:rPr lang="es-CO" b="0" i="0" dirty="0">
                <a:solidFill>
                  <a:srgbClr val="374151"/>
                </a:solidFill>
                <a:effectLst/>
                <a:latin typeface="Söhne"/>
              </a:rPr>
              <a:t>El ESP32 tiene un regulador interno que establece la tensión de referencia del ADC en típicamente 1.1V. Esto significa que cuando ingresas un voltaje de 3.3V al ADC, el ADC internamente ajustará ese voltaje de entrada en un rango de 0 a 1.1V para su conversión a digital. Esto permite la lectura precisa de voltajes dentro de ese rango utilizando el ADC del ESP32. Si ingresas un voltaje superior a 1.1V, la lectura máxima que obtendrás será 65535</a:t>
            </a:r>
            <a:endParaRPr lang="es-CO" dirty="0"/>
          </a:p>
        </p:txBody>
      </p:sp>
      <p:pic>
        <p:nvPicPr>
          <p:cNvPr id="2050" name="Picture 2" descr="Analog-to-Digital Converter (ADC) - NETWORK ENCYCLOPEDIA">
            <a:extLst>
              <a:ext uri="{FF2B5EF4-FFF2-40B4-BE49-F238E27FC236}">
                <a16:creationId xmlns:a16="http://schemas.microsoft.com/office/drawing/2014/main" id="{1E79ABD7-4075-5AB5-437C-9CC6788319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4805" y="1702631"/>
            <a:ext cx="5348306" cy="4105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270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89C2C-3C8A-D432-6DF1-E99C230DDC8D}"/>
              </a:ext>
            </a:extLst>
          </p:cNvPr>
          <p:cNvSpPr>
            <a:spLocks noGrp="1"/>
          </p:cNvSpPr>
          <p:nvPr>
            <p:ph type="title"/>
          </p:nvPr>
        </p:nvSpPr>
        <p:spPr/>
        <p:txBody>
          <a:bodyPr/>
          <a:lstStyle/>
          <a:p>
            <a:r>
              <a:rPr lang="es-ES" dirty="0" err="1"/>
              <a:t>Analog</a:t>
            </a:r>
            <a:r>
              <a:rPr lang="es-ES" dirty="0"/>
              <a:t> </a:t>
            </a:r>
            <a:r>
              <a:rPr lang="es-ES" dirty="0" err="1"/>
              <a:t>to</a:t>
            </a:r>
            <a:r>
              <a:rPr lang="es-ES" dirty="0"/>
              <a:t> Digital </a:t>
            </a:r>
            <a:r>
              <a:rPr lang="es-ES" dirty="0" err="1"/>
              <a:t>Converter</a:t>
            </a:r>
            <a:r>
              <a:rPr lang="es-ES" dirty="0"/>
              <a:t> ADC</a:t>
            </a:r>
            <a:endParaRPr lang="es-CO" dirty="0"/>
          </a:p>
        </p:txBody>
      </p:sp>
      <p:sp>
        <p:nvSpPr>
          <p:cNvPr id="3" name="Content Placeholder 2">
            <a:extLst>
              <a:ext uri="{FF2B5EF4-FFF2-40B4-BE49-F238E27FC236}">
                <a16:creationId xmlns:a16="http://schemas.microsoft.com/office/drawing/2014/main" id="{3EAEBFA0-7171-6702-3736-82040AAAABB3}"/>
              </a:ext>
            </a:extLst>
          </p:cNvPr>
          <p:cNvSpPr>
            <a:spLocks noGrp="1"/>
          </p:cNvSpPr>
          <p:nvPr>
            <p:ph idx="1"/>
          </p:nvPr>
        </p:nvSpPr>
        <p:spPr>
          <a:xfrm>
            <a:off x="838200" y="1825625"/>
            <a:ext cx="10515601" cy="3859558"/>
          </a:xfrm>
        </p:spPr>
        <p:txBody>
          <a:bodyPr>
            <a:normAutofit/>
          </a:bodyPr>
          <a:lstStyle/>
          <a:p>
            <a:pPr marL="342900" indent="-342900" algn="just">
              <a:buFont typeface="Arial" panose="020B0604020202020204" pitchFamily="34" charset="0"/>
              <a:buChar char="•"/>
            </a:pPr>
            <a:r>
              <a:rPr lang="es-CO" b="0" i="0" dirty="0">
                <a:solidFill>
                  <a:srgbClr val="374151"/>
                </a:solidFill>
                <a:effectLst/>
                <a:latin typeface="Söhne"/>
              </a:rPr>
              <a:t>El ADC  tiene un voltaje mínimo de medición alrededor de 100mV, los voltajes por debajo de esto se leerán como 0. </a:t>
            </a:r>
          </a:p>
          <a:p>
            <a:pPr marL="342900" indent="-342900" algn="just">
              <a:buFont typeface="Arial" panose="020B0604020202020204" pitchFamily="34" charset="0"/>
              <a:buChar char="•"/>
            </a:pPr>
            <a:r>
              <a:rPr lang="es-CO" b="0" i="0" dirty="0">
                <a:solidFill>
                  <a:srgbClr val="374151"/>
                </a:solidFill>
                <a:effectLst/>
                <a:latin typeface="Söhne"/>
              </a:rPr>
              <a:t>Para leer voltajes con precisión, se recomienda usar el método </a:t>
            </a:r>
            <a:r>
              <a:rPr lang="es-CO" b="0" i="0" dirty="0" err="1">
                <a:solidFill>
                  <a:srgbClr val="374151"/>
                </a:solidFill>
                <a:effectLst/>
                <a:latin typeface="Söhne"/>
              </a:rPr>
              <a:t>read_uv</a:t>
            </a:r>
            <a:r>
              <a:rPr lang="es-CO" b="0" i="0" dirty="0">
                <a:solidFill>
                  <a:srgbClr val="374151"/>
                </a:solidFill>
                <a:effectLst/>
                <a:latin typeface="Söhne"/>
              </a:rPr>
              <a:t>() (ver abajo).</a:t>
            </a:r>
          </a:p>
          <a:p>
            <a:pPr marL="342900" indent="-342900" algn="just">
              <a:buFont typeface="Arial" panose="020B0604020202020204" pitchFamily="34" charset="0"/>
              <a:buChar char="•"/>
            </a:pPr>
            <a:r>
              <a:rPr lang="es-CO" b="0" i="0" dirty="0">
                <a:solidFill>
                  <a:srgbClr val="374151"/>
                </a:solidFill>
                <a:effectLst/>
                <a:latin typeface="Söhne"/>
              </a:rPr>
              <a:t>Para leer tensiones por encima de la tensión de referencia, se debe aplicar la atenuación de entrada con el argumento de la palabra clave </a:t>
            </a:r>
            <a:r>
              <a:rPr lang="es-CO" b="0" i="0" dirty="0" err="1">
                <a:solidFill>
                  <a:srgbClr val="374151"/>
                </a:solidFill>
                <a:effectLst/>
                <a:latin typeface="Söhne"/>
              </a:rPr>
              <a:t>atten</a:t>
            </a:r>
            <a:r>
              <a:rPr lang="es-CO" b="0" i="0" dirty="0">
                <a:solidFill>
                  <a:srgbClr val="374151"/>
                </a:solidFill>
                <a:effectLst/>
                <a:latin typeface="Söhne"/>
              </a:rPr>
              <a:t>.</a:t>
            </a:r>
          </a:p>
          <a:p>
            <a:pPr marL="342900" indent="-342900" algn="just">
              <a:buFont typeface="Arial" panose="020B0604020202020204" pitchFamily="34" charset="0"/>
              <a:buChar char="•"/>
            </a:pPr>
            <a:r>
              <a:rPr lang="es-CO" b="0" i="0" dirty="0">
                <a:solidFill>
                  <a:srgbClr val="374151"/>
                </a:solidFill>
                <a:effectLst/>
                <a:latin typeface="Söhne"/>
              </a:rPr>
              <a:t>Tenga en cuenta que el voltaje máximo absoluto para los pines de entrada es de 3,6V. Acercarse a este límite puede dañar el circuito integrado.</a:t>
            </a:r>
          </a:p>
          <a:p>
            <a:pPr marL="342900" indent="-342900" algn="just">
              <a:buFont typeface="Arial" panose="020B0604020202020204" pitchFamily="34" charset="0"/>
              <a:buChar char="•"/>
            </a:pPr>
            <a:endParaRPr lang="es-CO" b="0" i="0" dirty="0">
              <a:solidFill>
                <a:srgbClr val="374151"/>
              </a:solidFill>
              <a:effectLst/>
              <a:latin typeface="Söhne"/>
            </a:endParaRPr>
          </a:p>
        </p:txBody>
      </p:sp>
    </p:spTree>
    <p:extLst>
      <p:ext uri="{BB962C8B-B14F-4D97-AF65-F5344CB8AC3E}">
        <p14:creationId xmlns:p14="http://schemas.microsoft.com/office/powerpoint/2010/main" val="1500402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89C2C-3C8A-D432-6DF1-E99C230DDC8D}"/>
              </a:ext>
            </a:extLst>
          </p:cNvPr>
          <p:cNvSpPr>
            <a:spLocks noGrp="1"/>
          </p:cNvSpPr>
          <p:nvPr>
            <p:ph type="title"/>
          </p:nvPr>
        </p:nvSpPr>
        <p:spPr/>
        <p:txBody>
          <a:bodyPr/>
          <a:lstStyle/>
          <a:p>
            <a:r>
              <a:rPr lang="es-ES" dirty="0"/>
              <a:t>Digital </a:t>
            </a:r>
            <a:r>
              <a:rPr lang="es-ES" dirty="0" err="1"/>
              <a:t>to</a:t>
            </a:r>
            <a:r>
              <a:rPr lang="es-ES" dirty="0"/>
              <a:t> </a:t>
            </a:r>
            <a:r>
              <a:rPr lang="es-ES" dirty="0" err="1"/>
              <a:t>Analog</a:t>
            </a:r>
            <a:r>
              <a:rPr lang="es-ES" dirty="0"/>
              <a:t> </a:t>
            </a:r>
            <a:r>
              <a:rPr lang="es-ES" dirty="0" err="1"/>
              <a:t>Converter</a:t>
            </a:r>
            <a:r>
              <a:rPr lang="es-ES" dirty="0"/>
              <a:t> ADC</a:t>
            </a:r>
            <a:endParaRPr lang="es-CO" dirty="0"/>
          </a:p>
        </p:txBody>
      </p:sp>
      <p:sp>
        <p:nvSpPr>
          <p:cNvPr id="3" name="Content Placeholder 2">
            <a:extLst>
              <a:ext uri="{FF2B5EF4-FFF2-40B4-BE49-F238E27FC236}">
                <a16:creationId xmlns:a16="http://schemas.microsoft.com/office/drawing/2014/main" id="{3EAEBFA0-7171-6702-3736-82040AAAABB3}"/>
              </a:ext>
            </a:extLst>
          </p:cNvPr>
          <p:cNvSpPr>
            <a:spLocks noGrp="1"/>
          </p:cNvSpPr>
          <p:nvPr>
            <p:ph idx="1"/>
          </p:nvPr>
        </p:nvSpPr>
        <p:spPr>
          <a:xfrm>
            <a:off x="838201" y="1825625"/>
            <a:ext cx="6804804" cy="3859558"/>
          </a:xfrm>
        </p:spPr>
        <p:txBody>
          <a:bodyPr>
            <a:normAutofit/>
          </a:bodyPr>
          <a:lstStyle/>
          <a:p>
            <a:pPr algn="just"/>
            <a:r>
              <a:rPr lang="es-CO" b="0" i="0" dirty="0">
                <a:solidFill>
                  <a:srgbClr val="374151"/>
                </a:solidFill>
                <a:effectLst/>
                <a:latin typeface="Söhne"/>
              </a:rPr>
              <a:t>Un convertidor digital-analógico (DAC, por sus siglas en inglés) es un dispositivo electrónico que convierte señales digitales en señales analógicas. Toma una señal digital, que es una secuencia de ceros y unos, y la convierte en una señal analógica que varía en forma continua.</a:t>
            </a:r>
          </a:p>
          <a:p>
            <a:pPr algn="just"/>
            <a:r>
              <a:rPr lang="es-CO" dirty="0">
                <a:solidFill>
                  <a:srgbClr val="374151"/>
                </a:solidFill>
                <a:latin typeface="Söhne"/>
              </a:rPr>
              <a:t>En el ESP32 los convertidores DAC están ubicados en los GPIO25 Y GPIO26. La precisión del DAC es de 8 bits, obteniendo 256 posibilidades de niveles de voltaje donde 0 es un nivel de 0 voltios y 255 un nivel de 3.3 voltios</a:t>
            </a:r>
            <a:endParaRPr lang="es-CO" b="0" i="0" dirty="0">
              <a:solidFill>
                <a:srgbClr val="374151"/>
              </a:solidFill>
              <a:effectLst/>
              <a:latin typeface="Söhne"/>
            </a:endParaRPr>
          </a:p>
        </p:txBody>
      </p:sp>
      <p:pic>
        <p:nvPicPr>
          <p:cNvPr id="3074" name="Picture 2" descr="Analog-to-digital converter - Wikipedia">
            <a:extLst>
              <a:ext uri="{FF2B5EF4-FFF2-40B4-BE49-F238E27FC236}">
                <a16:creationId xmlns:a16="http://schemas.microsoft.com/office/drawing/2014/main" id="{02DE16A4-D998-3DC2-5D0C-22FBBC3655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1085" y="1377883"/>
            <a:ext cx="3122714" cy="4755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216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89C2C-3C8A-D432-6DF1-E99C230DDC8D}"/>
              </a:ext>
            </a:extLst>
          </p:cNvPr>
          <p:cNvSpPr>
            <a:spLocks noGrp="1"/>
          </p:cNvSpPr>
          <p:nvPr>
            <p:ph type="title"/>
          </p:nvPr>
        </p:nvSpPr>
        <p:spPr/>
        <p:txBody>
          <a:bodyPr/>
          <a:lstStyle/>
          <a:p>
            <a:r>
              <a:rPr lang="es-ES" dirty="0"/>
              <a:t>Digital </a:t>
            </a:r>
            <a:r>
              <a:rPr lang="es-ES" dirty="0" err="1"/>
              <a:t>to</a:t>
            </a:r>
            <a:r>
              <a:rPr lang="es-ES" dirty="0"/>
              <a:t> </a:t>
            </a:r>
            <a:r>
              <a:rPr lang="es-ES" dirty="0" err="1"/>
              <a:t>Analog</a:t>
            </a:r>
            <a:r>
              <a:rPr lang="es-ES" dirty="0"/>
              <a:t> </a:t>
            </a:r>
            <a:r>
              <a:rPr lang="es-ES" dirty="0" err="1"/>
              <a:t>Converter</a:t>
            </a:r>
            <a:r>
              <a:rPr lang="es-ES" dirty="0"/>
              <a:t> ADC</a:t>
            </a:r>
            <a:endParaRPr lang="es-CO" dirty="0"/>
          </a:p>
        </p:txBody>
      </p:sp>
      <p:sp>
        <p:nvSpPr>
          <p:cNvPr id="3" name="Content Placeholder 2">
            <a:extLst>
              <a:ext uri="{FF2B5EF4-FFF2-40B4-BE49-F238E27FC236}">
                <a16:creationId xmlns:a16="http://schemas.microsoft.com/office/drawing/2014/main" id="{3EAEBFA0-7171-6702-3736-82040AAAABB3}"/>
              </a:ext>
            </a:extLst>
          </p:cNvPr>
          <p:cNvSpPr>
            <a:spLocks noGrp="1"/>
          </p:cNvSpPr>
          <p:nvPr>
            <p:ph idx="1"/>
          </p:nvPr>
        </p:nvSpPr>
        <p:spPr>
          <a:xfrm>
            <a:off x="838201" y="1483743"/>
            <a:ext cx="10824712" cy="4330460"/>
          </a:xfrm>
        </p:spPr>
        <p:txBody>
          <a:bodyPr>
            <a:normAutofit/>
          </a:bodyPr>
          <a:lstStyle/>
          <a:p>
            <a:pPr algn="l">
              <a:buFont typeface="Arial" panose="020B0604020202020204" pitchFamily="34" charset="0"/>
              <a:buChar char="•"/>
            </a:pPr>
            <a:r>
              <a:rPr lang="es-CO" b="0" i="0" dirty="0">
                <a:solidFill>
                  <a:srgbClr val="374151"/>
                </a:solidFill>
                <a:effectLst/>
                <a:latin typeface="Söhne"/>
              </a:rPr>
              <a:t>Reproducción de audio: el DAC se utiliza para convertir los archivos de música digital en una señal analógica que puede ser reproducida por altavoces o auriculares.</a:t>
            </a:r>
          </a:p>
          <a:p>
            <a:pPr algn="l">
              <a:buFont typeface="Arial" panose="020B0604020202020204" pitchFamily="34" charset="0"/>
              <a:buChar char="•"/>
            </a:pPr>
            <a:r>
              <a:rPr lang="es-CO" b="0" i="0" dirty="0">
                <a:solidFill>
                  <a:srgbClr val="374151"/>
                </a:solidFill>
                <a:effectLst/>
                <a:latin typeface="Söhne"/>
              </a:rPr>
              <a:t>Comunicaciones: el DAC se utiliza en transmisiones de radio o televisión para convertir señales digitales en señales analógicas para su transmisión.</a:t>
            </a:r>
          </a:p>
          <a:p>
            <a:pPr algn="l">
              <a:buFont typeface="Arial" panose="020B0604020202020204" pitchFamily="34" charset="0"/>
              <a:buChar char="•"/>
            </a:pPr>
            <a:r>
              <a:rPr lang="es-CO" b="0" i="0" dirty="0">
                <a:solidFill>
                  <a:srgbClr val="374151"/>
                </a:solidFill>
                <a:effectLst/>
                <a:latin typeface="Söhne"/>
              </a:rPr>
              <a:t>Control de motores: muchos motores eléctricos requieren señales analógicas para su control, por lo que se utilizan DAC para convertir las señales digitales en señales analógicas para su adecuado funcionamiento.</a:t>
            </a:r>
          </a:p>
          <a:p>
            <a:pPr algn="l">
              <a:buFont typeface="Arial" panose="020B0604020202020204" pitchFamily="34" charset="0"/>
              <a:buChar char="•"/>
            </a:pPr>
            <a:r>
              <a:rPr lang="es-CO" b="0" i="0" dirty="0">
                <a:solidFill>
                  <a:srgbClr val="374151"/>
                </a:solidFill>
                <a:effectLst/>
                <a:latin typeface="Söhne"/>
              </a:rPr>
              <a:t>Instrumentación: en equipos de medida y control, se utiliza un DAC para convertir señales digitales en señales analógicas y así poder obtener mediciones precisas.</a:t>
            </a:r>
          </a:p>
        </p:txBody>
      </p:sp>
    </p:spTree>
    <p:extLst>
      <p:ext uri="{BB962C8B-B14F-4D97-AF65-F5344CB8AC3E}">
        <p14:creationId xmlns:p14="http://schemas.microsoft.com/office/powerpoint/2010/main" val="2103681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89C2C-3C8A-D432-6DF1-E99C230DDC8D}"/>
              </a:ext>
            </a:extLst>
          </p:cNvPr>
          <p:cNvSpPr>
            <a:spLocks noGrp="1"/>
          </p:cNvSpPr>
          <p:nvPr>
            <p:ph type="title"/>
          </p:nvPr>
        </p:nvSpPr>
        <p:spPr/>
        <p:txBody>
          <a:bodyPr/>
          <a:lstStyle/>
          <a:p>
            <a:r>
              <a:rPr lang="es-ES" dirty="0"/>
              <a:t>Digital </a:t>
            </a:r>
            <a:r>
              <a:rPr lang="es-ES" dirty="0" err="1"/>
              <a:t>to</a:t>
            </a:r>
            <a:r>
              <a:rPr lang="es-ES" dirty="0"/>
              <a:t> </a:t>
            </a:r>
            <a:r>
              <a:rPr lang="es-ES" dirty="0" err="1"/>
              <a:t>Analog</a:t>
            </a:r>
            <a:r>
              <a:rPr lang="es-ES" dirty="0"/>
              <a:t> </a:t>
            </a:r>
            <a:r>
              <a:rPr lang="es-ES" dirty="0" err="1"/>
              <a:t>Converter</a:t>
            </a:r>
            <a:r>
              <a:rPr lang="es-ES" dirty="0"/>
              <a:t> ADC</a:t>
            </a:r>
            <a:endParaRPr lang="es-CO" dirty="0"/>
          </a:p>
        </p:txBody>
      </p:sp>
      <p:sp>
        <p:nvSpPr>
          <p:cNvPr id="3" name="Content Placeholder 2">
            <a:extLst>
              <a:ext uri="{FF2B5EF4-FFF2-40B4-BE49-F238E27FC236}">
                <a16:creationId xmlns:a16="http://schemas.microsoft.com/office/drawing/2014/main" id="{3EAEBFA0-7171-6702-3736-82040AAAABB3}"/>
              </a:ext>
            </a:extLst>
          </p:cNvPr>
          <p:cNvSpPr>
            <a:spLocks noGrp="1"/>
          </p:cNvSpPr>
          <p:nvPr>
            <p:ph idx="1"/>
          </p:nvPr>
        </p:nvSpPr>
        <p:spPr>
          <a:xfrm>
            <a:off x="838201" y="1483743"/>
            <a:ext cx="5476335" cy="4330460"/>
          </a:xfrm>
        </p:spPr>
        <p:txBody>
          <a:bodyPr>
            <a:normAutofit/>
          </a:bodyPr>
          <a:lstStyle/>
          <a:p>
            <a:pPr algn="l"/>
            <a:r>
              <a:rPr lang="es-ES" dirty="0">
                <a:solidFill>
                  <a:srgbClr val="374151"/>
                </a:solidFill>
                <a:latin typeface="Söhne"/>
              </a:rPr>
              <a:t>D</a:t>
            </a:r>
            <a:r>
              <a:rPr lang="es-CO" dirty="0" err="1">
                <a:solidFill>
                  <a:srgbClr val="374151"/>
                </a:solidFill>
                <a:latin typeface="Söhne"/>
              </a:rPr>
              <a:t>efinición</a:t>
            </a:r>
            <a:r>
              <a:rPr lang="es-CO" dirty="0">
                <a:solidFill>
                  <a:srgbClr val="374151"/>
                </a:solidFill>
                <a:latin typeface="Söhne"/>
              </a:rPr>
              <a:t> de los conversores DAC:</a:t>
            </a:r>
            <a:endParaRPr lang="es-CO" b="0" i="0" dirty="0">
              <a:solidFill>
                <a:srgbClr val="374151"/>
              </a:solidFill>
              <a:effectLst/>
              <a:latin typeface="Söhne"/>
            </a:endParaRPr>
          </a:p>
        </p:txBody>
      </p:sp>
      <p:sp>
        <p:nvSpPr>
          <p:cNvPr id="4" name="TextBox 3">
            <a:extLst>
              <a:ext uri="{FF2B5EF4-FFF2-40B4-BE49-F238E27FC236}">
                <a16:creationId xmlns:a16="http://schemas.microsoft.com/office/drawing/2014/main" id="{FDCF568F-FA11-AFDB-C23C-7FE081A6DD48}"/>
              </a:ext>
            </a:extLst>
          </p:cNvPr>
          <p:cNvSpPr txBox="1"/>
          <p:nvPr/>
        </p:nvSpPr>
        <p:spPr>
          <a:xfrm>
            <a:off x="6970143" y="2494811"/>
            <a:ext cx="4848046" cy="2308324"/>
          </a:xfrm>
          <a:prstGeom prst="rect">
            <a:avLst/>
          </a:prstGeom>
          <a:noFill/>
        </p:spPr>
        <p:txBody>
          <a:bodyPr wrap="square" rtlCol="0">
            <a:spAutoFit/>
          </a:bodyPr>
          <a:lstStyle/>
          <a:p>
            <a:r>
              <a:rPr lang="es-ES" sz="2400" dirty="0">
                <a:latin typeface="Söhne"/>
              </a:rPr>
              <a:t>La clase DAC tiene un único modulo llamado </a:t>
            </a:r>
            <a:r>
              <a:rPr lang="es-ES" sz="2400" dirty="0" err="1">
                <a:latin typeface="Söhne"/>
              </a:rPr>
              <a:t>write</a:t>
            </a:r>
            <a:r>
              <a:rPr lang="es-ES" sz="2400" dirty="0">
                <a:latin typeface="Söhne"/>
              </a:rPr>
              <a:t>, el cual es utilizado para escribir un valor de tensión analógica en la salida del puerto. Esto se hace estableciendo un valor de 0 a 255</a:t>
            </a:r>
            <a:endParaRPr lang="es-CO" sz="2400" dirty="0">
              <a:latin typeface="Söhne"/>
            </a:endParaRPr>
          </a:p>
        </p:txBody>
      </p:sp>
      <p:pic>
        <p:nvPicPr>
          <p:cNvPr id="6" name="Picture 5">
            <a:extLst>
              <a:ext uri="{FF2B5EF4-FFF2-40B4-BE49-F238E27FC236}">
                <a16:creationId xmlns:a16="http://schemas.microsoft.com/office/drawing/2014/main" id="{5C614033-5D1A-AC16-A229-3288E74F78B7}"/>
              </a:ext>
            </a:extLst>
          </p:cNvPr>
          <p:cNvPicPr>
            <a:picLocks noChangeAspect="1"/>
          </p:cNvPicPr>
          <p:nvPr/>
        </p:nvPicPr>
        <p:blipFill>
          <a:blip r:embed="rId2"/>
          <a:stretch>
            <a:fillRect/>
          </a:stretch>
        </p:blipFill>
        <p:spPr>
          <a:xfrm>
            <a:off x="1166004" y="2386390"/>
            <a:ext cx="5476335" cy="2785541"/>
          </a:xfrm>
          <a:prstGeom prst="rect">
            <a:avLst/>
          </a:prstGeom>
        </p:spPr>
      </p:pic>
    </p:spTree>
    <p:extLst>
      <p:ext uri="{BB962C8B-B14F-4D97-AF65-F5344CB8AC3E}">
        <p14:creationId xmlns:p14="http://schemas.microsoft.com/office/powerpoint/2010/main" val="4126738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168DE-C75A-9EC0-28FD-AFBA943F7C1C}"/>
              </a:ext>
            </a:extLst>
          </p:cNvPr>
          <p:cNvSpPr>
            <a:spLocks noGrp="1"/>
          </p:cNvSpPr>
          <p:nvPr>
            <p:ph type="title"/>
          </p:nvPr>
        </p:nvSpPr>
        <p:spPr/>
        <p:txBody>
          <a:bodyPr/>
          <a:lstStyle/>
          <a:p>
            <a:r>
              <a:rPr lang="en-US" dirty="0" err="1">
                <a:latin typeface="Arial"/>
                <a:cs typeface="Arial"/>
              </a:rPr>
              <a:t>Normalización</a:t>
            </a:r>
            <a:r>
              <a:rPr lang="en-US" dirty="0">
                <a:latin typeface="Arial"/>
                <a:cs typeface="Arial"/>
              </a:rPr>
              <a:t> y </a:t>
            </a:r>
            <a:r>
              <a:rPr lang="en-US" dirty="0" err="1">
                <a:latin typeface="Arial"/>
                <a:cs typeface="Arial"/>
              </a:rPr>
              <a:t>lectura</a:t>
            </a:r>
            <a:r>
              <a:rPr lang="en-US" dirty="0">
                <a:latin typeface="Arial"/>
                <a:cs typeface="Arial"/>
              </a:rPr>
              <a:t> de Sensores </a:t>
            </a:r>
            <a:r>
              <a:rPr lang="en-US" dirty="0" err="1">
                <a:latin typeface="Arial"/>
                <a:cs typeface="Arial"/>
              </a:rPr>
              <a:t>lineales</a:t>
            </a:r>
            <a:endParaRPr lang="en-US" dirty="0" err="1"/>
          </a:p>
        </p:txBody>
      </p:sp>
      <p:sp>
        <p:nvSpPr>
          <p:cNvPr id="3" name="Content Placeholder 2">
            <a:extLst>
              <a:ext uri="{FF2B5EF4-FFF2-40B4-BE49-F238E27FC236}">
                <a16:creationId xmlns:a16="http://schemas.microsoft.com/office/drawing/2014/main" id="{0B48FC3D-278C-E065-2E38-BEF9C5B49318}"/>
              </a:ext>
            </a:extLst>
          </p:cNvPr>
          <p:cNvSpPr>
            <a:spLocks noGrp="1"/>
          </p:cNvSpPr>
          <p:nvPr>
            <p:ph idx="1"/>
          </p:nvPr>
        </p:nvSpPr>
        <p:spPr/>
        <p:txBody>
          <a:bodyPr vert="horz" lIns="91440" tIns="45720" rIns="91440" bIns="45720" rtlCol="0" anchor="t">
            <a:normAutofit/>
          </a:bodyPr>
          <a:lstStyle/>
          <a:p>
            <a:r>
              <a:rPr lang="en-US" dirty="0">
                <a:solidFill>
                  <a:schemeClr val="bg2">
                    <a:lumMod val="50000"/>
                  </a:schemeClr>
                </a:solidFill>
                <a:latin typeface="Arial Narrow"/>
              </a:rPr>
              <a:t>El </a:t>
            </a:r>
            <a:r>
              <a:rPr lang="en-US" err="1">
                <a:solidFill>
                  <a:schemeClr val="bg2">
                    <a:lumMod val="50000"/>
                  </a:schemeClr>
                </a:solidFill>
                <a:latin typeface="Arial Narrow"/>
              </a:rPr>
              <a:t>uso</a:t>
            </a:r>
            <a:r>
              <a:rPr lang="en-US" dirty="0">
                <a:solidFill>
                  <a:schemeClr val="bg2">
                    <a:lumMod val="50000"/>
                  </a:schemeClr>
                </a:solidFill>
                <a:latin typeface="Arial Narrow"/>
              </a:rPr>
              <a:t> de </a:t>
            </a:r>
            <a:r>
              <a:rPr lang="en-US" err="1">
                <a:solidFill>
                  <a:schemeClr val="bg2">
                    <a:lumMod val="50000"/>
                  </a:schemeClr>
                </a:solidFill>
                <a:latin typeface="Arial Narrow"/>
              </a:rPr>
              <a:t>sensores</a:t>
            </a:r>
            <a:r>
              <a:rPr lang="en-US" dirty="0">
                <a:solidFill>
                  <a:schemeClr val="bg2">
                    <a:lumMod val="50000"/>
                  </a:schemeClr>
                </a:solidFill>
                <a:latin typeface="Arial Narrow"/>
              </a:rPr>
              <a:t> es un </a:t>
            </a:r>
            <a:r>
              <a:rPr lang="en-US" err="1">
                <a:solidFill>
                  <a:schemeClr val="bg2">
                    <a:lumMod val="50000"/>
                  </a:schemeClr>
                </a:solidFill>
                <a:latin typeface="Arial Narrow"/>
              </a:rPr>
              <a:t>proceso</a:t>
            </a:r>
            <a:r>
              <a:rPr lang="en-US" dirty="0">
                <a:solidFill>
                  <a:schemeClr val="bg2">
                    <a:lumMod val="50000"/>
                  </a:schemeClr>
                </a:solidFill>
                <a:latin typeface="Arial Narrow"/>
              </a:rPr>
              <a:t> fundamental para </a:t>
            </a:r>
            <a:r>
              <a:rPr lang="en-US" err="1">
                <a:solidFill>
                  <a:schemeClr val="bg2">
                    <a:lumMod val="50000"/>
                  </a:schemeClr>
                </a:solidFill>
                <a:latin typeface="Arial Narrow"/>
              </a:rPr>
              <a:t>sacar</a:t>
            </a:r>
            <a:r>
              <a:rPr lang="en-US" dirty="0">
                <a:solidFill>
                  <a:schemeClr val="bg2">
                    <a:lumMod val="50000"/>
                  </a:schemeClr>
                </a:solidFill>
                <a:latin typeface="Arial Narrow"/>
              </a:rPr>
              <a:t> </a:t>
            </a:r>
            <a:r>
              <a:rPr lang="en-US" err="1">
                <a:solidFill>
                  <a:schemeClr val="bg2">
                    <a:lumMod val="50000"/>
                  </a:schemeClr>
                </a:solidFill>
                <a:latin typeface="Arial Narrow"/>
              </a:rPr>
              <a:t>el</a:t>
            </a:r>
            <a:r>
              <a:rPr lang="en-US" dirty="0">
                <a:solidFill>
                  <a:schemeClr val="bg2">
                    <a:lumMod val="50000"/>
                  </a:schemeClr>
                </a:solidFill>
                <a:latin typeface="Arial Narrow"/>
              </a:rPr>
              <a:t> </a:t>
            </a:r>
            <a:r>
              <a:rPr lang="en-US" err="1">
                <a:solidFill>
                  <a:schemeClr val="bg2">
                    <a:lumMod val="50000"/>
                  </a:schemeClr>
                </a:solidFill>
                <a:latin typeface="Arial Narrow"/>
              </a:rPr>
              <a:t>maximo</a:t>
            </a:r>
            <a:r>
              <a:rPr lang="en-US" dirty="0">
                <a:solidFill>
                  <a:schemeClr val="bg2">
                    <a:lumMod val="50000"/>
                  </a:schemeClr>
                </a:solidFill>
                <a:latin typeface="Arial Narrow"/>
              </a:rPr>
              <a:t> </a:t>
            </a:r>
            <a:r>
              <a:rPr lang="en-US" err="1">
                <a:solidFill>
                  <a:schemeClr val="bg2">
                    <a:lumMod val="50000"/>
                  </a:schemeClr>
                </a:solidFill>
                <a:latin typeface="Arial Narrow"/>
              </a:rPr>
              <a:t>provecho</a:t>
            </a:r>
            <a:r>
              <a:rPr lang="en-US" dirty="0">
                <a:solidFill>
                  <a:schemeClr val="bg2">
                    <a:lumMod val="50000"/>
                  </a:schemeClr>
                </a:solidFill>
                <a:latin typeface="Arial Narrow"/>
              </a:rPr>
              <a:t> a </a:t>
            </a:r>
            <a:r>
              <a:rPr lang="en-US" err="1">
                <a:solidFill>
                  <a:schemeClr val="bg2">
                    <a:lumMod val="50000"/>
                  </a:schemeClr>
                </a:solidFill>
                <a:latin typeface="Arial Narrow"/>
              </a:rPr>
              <a:t>los</a:t>
            </a:r>
            <a:r>
              <a:rPr lang="en-US" dirty="0">
                <a:solidFill>
                  <a:schemeClr val="bg2">
                    <a:lumMod val="50000"/>
                  </a:schemeClr>
                </a:solidFill>
                <a:latin typeface="Arial Narrow"/>
              </a:rPr>
              <a:t> </a:t>
            </a:r>
            <a:r>
              <a:rPr lang="en-US" err="1">
                <a:solidFill>
                  <a:schemeClr val="bg2">
                    <a:lumMod val="50000"/>
                  </a:schemeClr>
                </a:solidFill>
                <a:latin typeface="Arial Narrow"/>
              </a:rPr>
              <a:t>microcontroladores</a:t>
            </a:r>
            <a:r>
              <a:rPr lang="en-US" dirty="0">
                <a:solidFill>
                  <a:schemeClr val="bg2">
                    <a:lumMod val="50000"/>
                  </a:schemeClr>
                </a:solidFill>
                <a:latin typeface="Arial Narrow"/>
              </a:rPr>
              <a:t>, y </a:t>
            </a:r>
            <a:r>
              <a:rPr lang="en-US" err="1">
                <a:solidFill>
                  <a:schemeClr val="bg2">
                    <a:lumMod val="50000"/>
                  </a:schemeClr>
                </a:solidFill>
                <a:latin typeface="Arial Narrow"/>
              </a:rPr>
              <a:t>llevarlos</a:t>
            </a:r>
            <a:r>
              <a:rPr lang="en-US" dirty="0">
                <a:solidFill>
                  <a:schemeClr val="bg2">
                    <a:lumMod val="50000"/>
                  </a:schemeClr>
                </a:solidFill>
                <a:latin typeface="Arial Narrow"/>
              </a:rPr>
              <a:t> a </a:t>
            </a:r>
            <a:r>
              <a:rPr lang="en-US" err="1">
                <a:solidFill>
                  <a:schemeClr val="bg2">
                    <a:lumMod val="50000"/>
                  </a:schemeClr>
                </a:solidFill>
                <a:latin typeface="Arial Narrow"/>
              </a:rPr>
              <a:t>aplicaciones</a:t>
            </a:r>
            <a:r>
              <a:rPr lang="en-US" dirty="0">
                <a:solidFill>
                  <a:schemeClr val="bg2">
                    <a:lumMod val="50000"/>
                  </a:schemeClr>
                </a:solidFill>
                <a:latin typeface="Arial Narrow"/>
              </a:rPr>
              <a:t> </a:t>
            </a:r>
            <a:r>
              <a:rPr lang="en-US" err="1">
                <a:solidFill>
                  <a:schemeClr val="bg2">
                    <a:lumMod val="50000"/>
                  </a:schemeClr>
                </a:solidFill>
                <a:latin typeface="Arial Narrow"/>
              </a:rPr>
              <a:t>biomedicas</a:t>
            </a:r>
            <a:r>
              <a:rPr lang="en-US" dirty="0">
                <a:solidFill>
                  <a:schemeClr val="bg2">
                    <a:lumMod val="50000"/>
                  </a:schemeClr>
                </a:solidFill>
                <a:latin typeface="Arial Narrow"/>
              </a:rPr>
              <a:t> de </a:t>
            </a:r>
            <a:r>
              <a:rPr lang="en-US" err="1">
                <a:solidFill>
                  <a:schemeClr val="bg2">
                    <a:lumMod val="50000"/>
                  </a:schemeClr>
                </a:solidFill>
                <a:latin typeface="Arial Narrow"/>
              </a:rPr>
              <a:t>utilidad</a:t>
            </a:r>
            <a:endParaRPr lang="en-US">
              <a:solidFill>
                <a:schemeClr val="bg2">
                  <a:lumMod val="50000"/>
                </a:schemeClr>
              </a:solidFill>
            </a:endParaRPr>
          </a:p>
          <a:p>
            <a:r>
              <a:rPr lang="en-US" dirty="0">
                <a:solidFill>
                  <a:schemeClr val="bg2">
                    <a:lumMod val="50000"/>
                  </a:schemeClr>
                </a:solidFill>
                <a:latin typeface="Arial Narrow"/>
              </a:rPr>
              <a:t>Para </a:t>
            </a:r>
            <a:r>
              <a:rPr lang="en-US" err="1">
                <a:solidFill>
                  <a:schemeClr val="bg2">
                    <a:lumMod val="50000"/>
                  </a:schemeClr>
                </a:solidFill>
                <a:latin typeface="Arial Narrow"/>
              </a:rPr>
              <a:t>realizar</a:t>
            </a:r>
            <a:r>
              <a:rPr lang="en-US" dirty="0">
                <a:solidFill>
                  <a:schemeClr val="bg2">
                    <a:lumMod val="50000"/>
                  </a:schemeClr>
                </a:solidFill>
                <a:latin typeface="Arial Narrow"/>
              </a:rPr>
              <a:t> la </a:t>
            </a:r>
            <a:r>
              <a:rPr lang="en-US" err="1">
                <a:solidFill>
                  <a:schemeClr val="bg2">
                    <a:lumMod val="50000"/>
                  </a:schemeClr>
                </a:solidFill>
                <a:latin typeface="Arial Narrow"/>
              </a:rPr>
              <a:t>conversión</a:t>
            </a:r>
            <a:r>
              <a:rPr lang="en-US" dirty="0">
                <a:solidFill>
                  <a:schemeClr val="bg2">
                    <a:lumMod val="50000"/>
                  </a:schemeClr>
                </a:solidFill>
                <a:latin typeface="Arial Narrow"/>
              </a:rPr>
              <a:t> de la </a:t>
            </a:r>
            <a:r>
              <a:rPr lang="en-US" err="1">
                <a:solidFill>
                  <a:schemeClr val="bg2">
                    <a:lumMod val="50000"/>
                  </a:schemeClr>
                </a:solidFill>
                <a:latin typeface="Arial Narrow"/>
              </a:rPr>
              <a:t>señal</a:t>
            </a:r>
            <a:r>
              <a:rPr lang="en-US" dirty="0">
                <a:solidFill>
                  <a:schemeClr val="bg2">
                    <a:lumMod val="50000"/>
                  </a:schemeClr>
                </a:solidFill>
                <a:latin typeface="Arial Narrow"/>
              </a:rPr>
              <a:t> </a:t>
            </a:r>
            <a:r>
              <a:rPr lang="en-US" err="1">
                <a:solidFill>
                  <a:schemeClr val="bg2">
                    <a:lumMod val="50000"/>
                  </a:schemeClr>
                </a:solidFill>
                <a:latin typeface="Arial Narrow"/>
              </a:rPr>
              <a:t>analógica</a:t>
            </a:r>
            <a:r>
              <a:rPr lang="en-US" dirty="0">
                <a:solidFill>
                  <a:schemeClr val="bg2">
                    <a:lumMod val="50000"/>
                  </a:schemeClr>
                </a:solidFill>
                <a:latin typeface="Arial Narrow"/>
              </a:rPr>
              <a:t> a digital, la ESP32 </a:t>
            </a:r>
            <a:r>
              <a:rPr lang="en-US" err="1">
                <a:solidFill>
                  <a:schemeClr val="bg2">
                    <a:lumMod val="50000"/>
                  </a:schemeClr>
                </a:solidFill>
                <a:latin typeface="Arial Narrow"/>
              </a:rPr>
              <a:t>utiliza</a:t>
            </a:r>
            <a:r>
              <a:rPr lang="en-US" dirty="0">
                <a:solidFill>
                  <a:schemeClr val="bg2">
                    <a:lumMod val="50000"/>
                  </a:schemeClr>
                </a:solidFill>
                <a:latin typeface="Arial Narrow"/>
              </a:rPr>
              <a:t> un ADC de </a:t>
            </a:r>
            <a:r>
              <a:rPr lang="en-US" err="1">
                <a:solidFill>
                  <a:schemeClr val="bg2">
                    <a:lumMod val="50000"/>
                  </a:schemeClr>
                </a:solidFill>
                <a:latin typeface="Arial Narrow"/>
              </a:rPr>
              <a:t>resolución</a:t>
            </a:r>
            <a:r>
              <a:rPr lang="en-US" dirty="0">
                <a:solidFill>
                  <a:schemeClr val="bg2">
                    <a:lumMod val="50000"/>
                  </a:schemeClr>
                </a:solidFill>
                <a:latin typeface="Arial Narrow"/>
              </a:rPr>
              <a:t> de 16 bits, lo que </a:t>
            </a:r>
            <a:r>
              <a:rPr lang="en-US" err="1">
                <a:solidFill>
                  <a:schemeClr val="bg2">
                    <a:lumMod val="50000"/>
                  </a:schemeClr>
                </a:solidFill>
                <a:latin typeface="Arial Narrow"/>
              </a:rPr>
              <a:t>significa</a:t>
            </a:r>
            <a:r>
              <a:rPr lang="en-US" dirty="0">
                <a:solidFill>
                  <a:schemeClr val="bg2">
                    <a:lumMod val="50000"/>
                  </a:schemeClr>
                </a:solidFill>
                <a:latin typeface="Arial Narrow"/>
              </a:rPr>
              <a:t> que </a:t>
            </a:r>
            <a:r>
              <a:rPr lang="en-US" err="1">
                <a:solidFill>
                  <a:schemeClr val="bg2">
                    <a:lumMod val="50000"/>
                  </a:schemeClr>
                </a:solidFill>
                <a:latin typeface="Arial Narrow"/>
              </a:rPr>
              <a:t>puede</a:t>
            </a:r>
            <a:r>
              <a:rPr lang="en-US" dirty="0">
                <a:solidFill>
                  <a:schemeClr val="bg2">
                    <a:lumMod val="50000"/>
                  </a:schemeClr>
                </a:solidFill>
                <a:latin typeface="Arial Narrow"/>
              </a:rPr>
              <a:t> </a:t>
            </a:r>
            <a:r>
              <a:rPr lang="en-US" err="1">
                <a:solidFill>
                  <a:schemeClr val="bg2">
                    <a:lumMod val="50000"/>
                  </a:schemeClr>
                </a:solidFill>
                <a:latin typeface="Arial Narrow"/>
              </a:rPr>
              <a:t>representar</a:t>
            </a:r>
            <a:r>
              <a:rPr lang="en-US" dirty="0">
                <a:solidFill>
                  <a:schemeClr val="bg2">
                    <a:lumMod val="50000"/>
                  </a:schemeClr>
                </a:solidFill>
                <a:latin typeface="Arial Narrow"/>
              </a:rPr>
              <a:t> </a:t>
            </a:r>
            <a:r>
              <a:rPr lang="en-US" err="1">
                <a:solidFill>
                  <a:schemeClr val="bg2">
                    <a:lumMod val="50000"/>
                  </a:schemeClr>
                </a:solidFill>
                <a:latin typeface="Arial Narrow"/>
              </a:rPr>
              <a:t>valores</a:t>
            </a:r>
            <a:r>
              <a:rPr lang="en-US" dirty="0">
                <a:solidFill>
                  <a:schemeClr val="bg2">
                    <a:lumMod val="50000"/>
                  </a:schemeClr>
                </a:solidFill>
                <a:latin typeface="Arial Narrow"/>
              </a:rPr>
              <a:t> de </a:t>
            </a:r>
            <a:r>
              <a:rPr lang="en-US" err="1">
                <a:solidFill>
                  <a:schemeClr val="bg2">
                    <a:lumMod val="50000"/>
                  </a:schemeClr>
                </a:solidFill>
                <a:latin typeface="Arial Narrow"/>
              </a:rPr>
              <a:t>voltaje</a:t>
            </a:r>
            <a:r>
              <a:rPr lang="en-US" dirty="0">
                <a:solidFill>
                  <a:schemeClr val="bg2">
                    <a:lumMod val="50000"/>
                  </a:schemeClr>
                </a:solidFill>
                <a:latin typeface="Arial Narrow"/>
              </a:rPr>
              <a:t> </a:t>
            </a:r>
            <a:r>
              <a:rPr lang="en-US" err="1">
                <a:solidFill>
                  <a:schemeClr val="bg2">
                    <a:lumMod val="50000"/>
                  </a:schemeClr>
                </a:solidFill>
                <a:latin typeface="Arial Narrow"/>
              </a:rPr>
              <a:t>en</a:t>
            </a:r>
            <a:r>
              <a:rPr lang="en-US" dirty="0">
                <a:solidFill>
                  <a:schemeClr val="bg2">
                    <a:lumMod val="50000"/>
                  </a:schemeClr>
                </a:solidFill>
                <a:latin typeface="Arial Narrow"/>
              </a:rPr>
              <a:t> 65536 </a:t>
            </a:r>
            <a:r>
              <a:rPr lang="en-US" err="1">
                <a:solidFill>
                  <a:schemeClr val="bg2">
                    <a:lumMod val="50000"/>
                  </a:schemeClr>
                </a:solidFill>
                <a:latin typeface="Arial Narrow"/>
              </a:rPr>
              <a:t>niveles</a:t>
            </a:r>
            <a:r>
              <a:rPr lang="en-US" dirty="0">
                <a:solidFill>
                  <a:schemeClr val="bg2">
                    <a:lumMod val="50000"/>
                  </a:schemeClr>
                </a:solidFill>
                <a:latin typeface="Arial Narrow"/>
              </a:rPr>
              <a:t> </a:t>
            </a:r>
            <a:r>
              <a:rPr lang="en-US" err="1">
                <a:solidFill>
                  <a:schemeClr val="bg2">
                    <a:lumMod val="50000"/>
                  </a:schemeClr>
                </a:solidFill>
                <a:latin typeface="Arial Narrow"/>
              </a:rPr>
              <a:t>diferentes</a:t>
            </a:r>
            <a:r>
              <a:rPr lang="en-US" dirty="0">
                <a:solidFill>
                  <a:schemeClr val="bg2">
                    <a:lumMod val="50000"/>
                  </a:schemeClr>
                </a:solidFill>
                <a:latin typeface="Arial Narrow"/>
              </a:rPr>
              <a:t> entre 0 y 3.3V (</a:t>
            </a:r>
            <a:r>
              <a:rPr lang="en-US" err="1">
                <a:solidFill>
                  <a:schemeClr val="bg2">
                    <a:lumMod val="50000"/>
                  </a:schemeClr>
                </a:solidFill>
                <a:latin typeface="Arial Narrow"/>
              </a:rPr>
              <a:t>el</a:t>
            </a:r>
            <a:r>
              <a:rPr lang="en-US" dirty="0">
                <a:solidFill>
                  <a:schemeClr val="bg2">
                    <a:lumMod val="50000"/>
                  </a:schemeClr>
                </a:solidFill>
                <a:latin typeface="Arial Narrow"/>
              </a:rPr>
              <a:t> </a:t>
            </a:r>
            <a:r>
              <a:rPr lang="en-US" err="1">
                <a:solidFill>
                  <a:schemeClr val="bg2">
                    <a:lumMod val="50000"/>
                  </a:schemeClr>
                </a:solidFill>
                <a:latin typeface="Arial Narrow"/>
              </a:rPr>
              <a:t>rango</a:t>
            </a:r>
            <a:r>
              <a:rPr lang="en-US" dirty="0">
                <a:solidFill>
                  <a:schemeClr val="bg2">
                    <a:lumMod val="50000"/>
                  </a:schemeClr>
                </a:solidFill>
                <a:latin typeface="Arial Narrow"/>
              </a:rPr>
              <a:t> </a:t>
            </a:r>
            <a:r>
              <a:rPr lang="en-US" err="1">
                <a:solidFill>
                  <a:schemeClr val="bg2">
                    <a:lumMod val="50000"/>
                  </a:schemeClr>
                </a:solidFill>
                <a:latin typeface="Arial Narrow"/>
              </a:rPr>
              <a:t>típico</a:t>
            </a:r>
            <a:r>
              <a:rPr lang="en-US" dirty="0">
                <a:solidFill>
                  <a:schemeClr val="bg2">
                    <a:lumMod val="50000"/>
                  </a:schemeClr>
                </a:solidFill>
                <a:latin typeface="Arial Narrow"/>
              </a:rPr>
              <a:t> de </a:t>
            </a:r>
            <a:r>
              <a:rPr lang="en-US" err="1">
                <a:solidFill>
                  <a:schemeClr val="bg2">
                    <a:lumMod val="50000"/>
                  </a:schemeClr>
                </a:solidFill>
                <a:latin typeface="Arial Narrow"/>
              </a:rPr>
              <a:t>alimentación</a:t>
            </a:r>
            <a:r>
              <a:rPr lang="en-US" dirty="0">
                <a:solidFill>
                  <a:schemeClr val="bg2">
                    <a:lumMod val="50000"/>
                  </a:schemeClr>
                </a:solidFill>
                <a:latin typeface="Arial Narrow"/>
              </a:rPr>
              <a:t>).</a:t>
            </a:r>
          </a:p>
          <a:p>
            <a:r>
              <a:rPr lang="en-US" dirty="0">
                <a:solidFill>
                  <a:schemeClr val="bg2">
                    <a:lumMod val="50000"/>
                  </a:schemeClr>
                </a:solidFill>
                <a:latin typeface="Arial Narrow"/>
              </a:rPr>
              <a:t>Sin embargo </a:t>
            </a:r>
            <a:r>
              <a:rPr lang="en-US" dirty="0" err="1">
                <a:solidFill>
                  <a:schemeClr val="bg2">
                    <a:lumMod val="50000"/>
                  </a:schemeClr>
                </a:solidFill>
                <a:latin typeface="Arial Narrow"/>
              </a:rPr>
              <a:t>siempre</a:t>
            </a:r>
            <a:r>
              <a:rPr lang="en-US" dirty="0">
                <a:solidFill>
                  <a:schemeClr val="bg2">
                    <a:lumMod val="50000"/>
                  </a:schemeClr>
                </a:solidFill>
                <a:latin typeface="Arial Narrow"/>
              </a:rPr>
              <a:t> </a:t>
            </a:r>
            <a:r>
              <a:rPr lang="en-US" dirty="0" err="1">
                <a:solidFill>
                  <a:schemeClr val="bg2">
                    <a:lumMod val="50000"/>
                  </a:schemeClr>
                </a:solidFill>
                <a:latin typeface="Arial Narrow"/>
              </a:rPr>
              <a:t>considere</a:t>
            </a:r>
            <a:r>
              <a:rPr lang="en-US" dirty="0">
                <a:solidFill>
                  <a:schemeClr val="bg2">
                    <a:lumMod val="50000"/>
                  </a:schemeClr>
                </a:solidFill>
                <a:latin typeface="Arial Narrow"/>
              </a:rPr>
              <a:t> que </a:t>
            </a:r>
            <a:r>
              <a:rPr lang="en-US" dirty="0" err="1">
                <a:solidFill>
                  <a:schemeClr val="bg2">
                    <a:lumMod val="50000"/>
                  </a:schemeClr>
                </a:solidFill>
                <a:latin typeface="Arial Narrow"/>
              </a:rPr>
              <a:t>esta</a:t>
            </a:r>
            <a:r>
              <a:rPr lang="en-US" dirty="0">
                <a:solidFill>
                  <a:schemeClr val="bg2">
                    <a:lumMod val="50000"/>
                  </a:schemeClr>
                </a:solidFill>
                <a:latin typeface="Arial Narrow"/>
              </a:rPr>
              <a:t> </a:t>
            </a:r>
            <a:r>
              <a:rPr lang="en-US" dirty="0" err="1">
                <a:solidFill>
                  <a:schemeClr val="bg2">
                    <a:lumMod val="50000"/>
                  </a:schemeClr>
                </a:solidFill>
                <a:latin typeface="Arial Narrow"/>
              </a:rPr>
              <a:t>resolución</a:t>
            </a:r>
            <a:r>
              <a:rPr lang="en-US" dirty="0">
                <a:solidFill>
                  <a:schemeClr val="bg2">
                    <a:lumMod val="50000"/>
                  </a:schemeClr>
                </a:solidFill>
                <a:latin typeface="Arial Narrow"/>
              </a:rPr>
              <a:t> </a:t>
            </a:r>
            <a:r>
              <a:rPr lang="en-US" dirty="0" err="1">
                <a:solidFill>
                  <a:schemeClr val="bg2">
                    <a:lumMod val="50000"/>
                  </a:schemeClr>
                </a:solidFill>
                <a:latin typeface="Arial Narrow"/>
              </a:rPr>
              <a:t>puede</a:t>
            </a:r>
            <a:r>
              <a:rPr lang="en-US" dirty="0">
                <a:solidFill>
                  <a:schemeClr val="bg2">
                    <a:lumMod val="50000"/>
                  </a:schemeClr>
                </a:solidFill>
                <a:latin typeface="Arial Narrow"/>
              </a:rPr>
              <a:t> </a:t>
            </a:r>
            <a:r>
              <a:rPr lang="en-US" dirty="0" err="1">
                <a:solidFill>
                  <a:schemeClr val="bg2">
                    <a:lumMod val="50000"/>
                  </a:schemeClr>
                </a:solidFill>
                <a:latin typeface="Arial Narrow"/>
              </a:rPr>
              <a:t>variar</a:t>
            </a:r>
            <a:r>
              <a:rPr lang="en-US" dirty="0">
                <a:solidFill>
                  <a:schemeClr val="bg2">
                    <a:lumMod val="50000"/>
                  </a:schemeClr>
                </a:solidFill>
                <a:latin typeface="Arial Narrow"/>
              </a:rPr>
              <a:t>.</a:t>
            </a:r>
            <a:endParaRPr lang="en-US" dirty="0">
              <a:solidFill>
                <a:schemeClr val="bg2">
                  <a:lumMod val="50000"/>
                </a:schemeClr>
              </a:solidFill>
            </a:endParaRPr>
          </a:p>
          <a:p>
            <a:endParaRPr lang="en-US" sz="1200" dirty="0">
              <a:solidFill>
                <a:srgbClr val="0D0D0D"/>
              </a:solidFill>
            </a:endParaRPr>
          </a:p>
          <a:p>
            <a:endParaRPr lang="en-US" dirty="0">
              <a:solidFill>
                <a:srgbClr val="595959"/>
              </a:solidFill>
            </a:endParaRPr>
          </a:p>
        </p:txBody>
      </p:sp>
    </p:spTree>
    <p:extLst>
      <p:ext uri="{BB962C8B-B14F-4D97-AF65-F5344CB8AC3E}">
        <p14:creationId xmlns:p14="http://schemas.microsoft.com/office/powerpoint/2010/main" val="4293144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168DE-C75A-9EC0-28FD-AFBA943F7C1C}"/>
              </a:ext>
            </a:extLst>
          </p:cNvPr>
          <p:cNvSpPr>
            <a:spLocks noGrp="1"/>
          </p:cNvSpPr>
          <p:nvPr>
            <p:ph type="title"/>
          </p:nvPr>
        </p:nvSpPr>
        <p:spPr/>
        <p:txBody>
          <a:bodyPr/>
          <a:lstStyle/>
          <a:p>
            <a:r>
              <a:rPr lang="en-US" dirty="0" err="1">
                <a:latin typeface="Arial"/>
                <a:cs typeface="Arial"/>
              </a:rPr>
              <a:t>Normalización</a:t>
            </a:r>
            <a:r>
              <a:rPr lang="en-US" dirty="0">
                <a:latin typeface="Arial"/>
                <a:cs typeface="Arial"/>
              </a:rPr>
              <a:t> y </a:t>
            </a:r>
            <a:r>
              <a:rPr lang="en-US" dirty="0" err="1">
                <a:latin typeface="Arial"/>
                <a:cs typeface="Arial"/>
              </a:rPr>
              <a:t>lectura</a:t>
            </a:r>
            <a:r>
              <a:rPr lang="en-US" dirty="0">
                <a:latin typeface="Arial"/>
                <a:cs typeface="Arial"/>
              </a:rPr>
              <a:t> de Sensores </a:t>
            </a:r>
            <a:r>
              <a:rPr lang="en-US" dirty="0" err="1">
                <a:latin typeface="Arial"/>
                <a:cs typeface="Arial"/>
              </a:rPr>
              <a:t>lineales</a:t>
            </a:r>
            <a:endParaRPr lang="en-US" dirty="0" err="1"/>
          </a:p>
        </p:txBody>
      </p:sp>
      <p:sp>
        <p:nvSpPr>
          <p:cNvPr id="3" name="Content Placeholder 2">
            <a:extLst>
              <a:ext uri="{FF2B5EF4-FFF2-40B4-BE49-F238E27FC236}">
                <a16:creationId xmlns:a16="http://schemas.microsoft.com/office/drawing/2014/main" id="{0B48FC3D-278C-E065-2E38-BEF9C5B49318}"/>
              </a:ext>
            </a:extLst>
          </p:cNvPr>
          <p:cNvSpPr>
            <a:spLocks noGrp="1"/>
          </p:cNvSpPr>
          <p:nvPr>
            <p:ph idx="1"/>
          </p:nvPr>
        </p:nvSpPr>
        <p:spPr>
          <a:xfrm>
            <a:off x="838200" y="1825625"/>
            <a:ext cx="10501223" cy="4722199"/>
          </a:xfrm>
        </p:spPr>
        <p:txBody>
          <a:bodyPr vert="horz" lIns="91440" tIns="45720" rIns="91440" bIns="45720" rtlCol="0" anchor="t">
            <a:normAutofit/>
          </a:bodyPr>
          <a:lstStyle/>
          <a:p>
            <a:r>
              <a:rPr lang="en-US" dirty="0">
                <a:solidFill>
                  <a:schemeClr val="bg2">
                    <a:lumMod val="50000"/>
                  </a:schemeClr>
                </a:solidFill>
                <a:latin typeface="Arial Narrow"/>
              </a:rPr>
              <a:t>La </a:t>
            </a:r>
            <a:r>
              <a:rPr lang="en-US" err="1">
                <a:solidFill>
                  <a:schemeClr val="bg2">
                    <a:lumMod val="50000"/>
                  </a:schemeClr>
                </a:solidFill>
                <a:latin typeface="Arial Narrow"/>
              </a:rPr>
              <a:t>fórmula</a:t>
            </a:r>
            <a:r>
              <a:rPr lang="en-US" dirty="0">
                <a:solidFill>
                  <a:schemeClr val="bg2">
                    <a:lumMod val="50000"/>
                  </a:schemeClr>
                </a:solidFill>
                <a:latin typeface="Arial Narrow"/>
              </a:rPr>
              <a:t> general para </a:t>
            </a:r>
            <a:r>
              <a:rPr lang="en-US" err="1">
                <a:solidFill>
                  <a:schemeClr val="bg2">
                    <a:lumMod val="50000"/>
                  </a:schemeClr>
                </a:solidFill>
                <a:latin typeface="Arial Narrow"/>
              </a:rPr>
              <a:t>convertir</a:t>
            </a:r>
            <a:r>
              <a:rPr lang="en-US" dirty="0">
                <a:solidFill>
                  <a:schemeClr val="bg2">
                    <a:lumMod val="50000"/>
                  </a:schemeClr>
                </a:solidFill>
                <a:latin typeface="Arial Narrow"/>
              </a:rPr>
              <a:t> un valor ADC </a:t>
            </a:r>
            <a:r>
              <a:rPr lang="en-US" err="1">
                <a:solidFill>
                  <a:schemeClr val="bg2">
                    <a:lumMod val="50000"/>
                  </a:schemeClr>
                </a:solidFill>
                <a:latin typeface="Arial Narrow"/>
              </a:rPr>
              <a:t>en</a:t>
            </a:r>
            <a:r>
              <a:rPr lang="en-US" dirty="0">
                <a:solidFill>
                  <a:schemeClr val="bg2">
                    <a:lumMod val="50000"/>
                  </a:schemeClr>
                </a:solidFill>
                <a:latin typeface="Arial Narrow"/>
              </a:rPr>
              <a:t> </a:t>
            </a:r>
            <a:r>
              <a:rPr lang="en-US" err="1">
                <a:solidFill>
                  <a:schemeClr val="bg2">
                    <a:lumMod val="50000"/>
                  </a:schemeClr>
                </a:solidFill>
                <a:latin typeface="Arial Narrow"/>
              </a:rPr>
              <a:t>una</a:t>
            </a:r>
            <a:r>
              <a:rPr lang="en-US" dirty="0">
                <a:solidFill>
                  <a:schemeClr val="bg2">
                    <a:lumMod val="50000"/>
                  </a:schemeClr>
                </a:solidFill>
                <a:latin typeface="Arial Narrow"/>
              </a:rPr>
              <a:t> variable </a:t>
            </a:r>
            <a:r>
              <a:rPr lang="en-US" err="1">
                <a:solidFill>
                  <a:schemeClr val="bg2">
                    <a:lumMod val="50000"/>
                  </a:schemeClr>
                </a:solidFill>
                <a:latin typeface="Arial Narrow"/>
              </a:rPr>
              <a:t>física</a:t>
            </a:r>
            <a:r>
              <a:rPr lang="en-US" dirty="0">
                <a:solidFill>
                  <a:schemeClr val="bg2">
                    <a:lumMod val="50000"/>
                  </a:schemeClr>
                </a:solidFill>
                <a:latin typeface="Arial Narrow"/>
              </a:rPr>
              <a:t> </a:t>
            </a:r>
            <a:r>
              <a:rPr lang="en-US" err="1">
                <a:solidFill>
                  <a:schemeClr val="bg2">
                    <a:lumMod val="50000"/>
                  </a:schemeClr>
                </a:solidFill>
                <a:latin typeface="Arial Narrow"/>
              </a:rPr>
              <a:t>depende</a:t>
            </a:r>
            <a:r>
              <a:rPr lang="en-US" dirty="0">
                <a:solidFill>
                  <a:schemeClr val="bg2">
                    <a:lumMod val="50000"/>
                  </a:schemeClr>
                </a:solidFill>
                <a:latin typeface="Arial Narrow"/>
              </a:rPr>
              <a:t> del sensor </a:t>
            </a:r>
            <a:r>
              <a:rPr lang="en-US" err="1">
                <a:solidFill>
                  <a:schemeClr val="bg2">
                    <a:lumMod val="50000"/>
                  </a:schemeClr>
                </a:solidFill>
                <a:latin typeface="Arial Narrow"/>
              </a:rPr>
              <a:t>específico</a:t>
            </a:r>
            <a:r>
              <a:rPr lang="en-US" dirty="0">
                <a:solidFill>
                  <a:schemeClr val="bg2">
                    <a:lumMod val="50000"/>
                  </a:schemeClr>
                </a:solidFill>
                <a:latin typeface="Arial Narrow"/>
              </a:rPr>
              <a:t> que </a:t>
            </a:r>
            <a:r>
              <a:rPr lang="en-US" err="1">
                <a:solidFill>
                  <a:schemeClr val="bg2">
                    <a:lumMod val="50000"/>
                  </a:schemeClr>
                </a:solidFill>
                <a:latin typeface="Arial Narrow"/>
              </a:rPr>
              <a:t>estés</a:t>
            </a:r>
            <a:r>
              <a:rPr lang="en-US" dirty="0">
                <a:solidFill>
                  <a:schemeClr val="bg2">
                    <a:lumMod val="50000"/>
                  </a:schemeClr>
                </a:solidFill>
                <a:latin typeface="Arial Narrow"/>
              </a:rPr>
              <a:t> </a:t>
            </a:r>
            <a:r>
              <a:rPr lang="en-US" err="1">
                <a:solidFill>
                  <a:schemeClr val="bg2">
                    <a:lumMod val="50000"/>
                  </a:schemeClr>
                </a:solidFill>
                <a:latin typeface="Arial Narrow"/>
              </a:rPr>
              <a:t>utilizando</a:t>
            </a:r>
            <a:r>
              <a:rPr lang="en-US" dirty="0">
                <a:solidFill>
                  <a:schemeClr val="bg2">
                    <a:lumMod val="50000"/>
                  </a:schemeClr>
                </a:solidFill>
                <a:latin typeface="Arial Narrow"/>
              </a:rPr>
              <a:t> y </a:t>
            </a:r>
            <a:r>
              <a:rPr lang="en-US" err="1">
                <a:solidFill>
                  <a:schemeClr val="bg2">
                    <a:lumMod val="50000"/>
                  </a:schemeClr>
                </a:solidFill>
                <a:latin typeface="Arial Narrow"/>
              </a:rPr>
              <a:t>su</a:t>
            </a:r>
            <a:r>
              <a:rPr lang="en-US" dirty="0">
                <a:solidFill>
                  <a:schemeClr val="bg2">
                    <a:lumMod val="50000"/>
                  </a:schemeClr>
                </a:solidFill>
                <a:latin typeface="Arial Narrow"/>
              </a:rPr>
              <a:t> </a:t>
            </a:r>
            <a:r>
              <a:rPr lang="en-US" err="1">
                <a:solidFill>
                  <a:schemeClr val="bg2">
                    <a:lumMod val="50000"/>
                  </a:schemeClr>
                </a:solidFill>
                <a:latin typeface="Arial Narrow"/>
              </a:rPr>
              <a:t>característica</a:t>
            </a:r>
            <a:r>
              <a:rPr lang="en-US" dirty="0">
                <a:solidFill>
                  <a:schemeClr val="bg2">
                    <a:lumMod val="50000"/>
                  </a:schemeClr>
                </a:solidFill>
                <a:latin typeface="Arial Narrow"/>
              </a:rPr>
              <a:t> de </a:t>
            </a:r>
            <a:r>
              <a:rPr lang="en-US" err="1">
                <a:solidFill>
                  <a:schemeClr val="bg2">
                    <a:lumMod val="50000"/>
                  </a:schemeClr>
                </a:solidFill>
                <a:latin typeface="Arial Narrow"/>
              </a:rPr>
              <a:t>salida</a:t>
            </a:r>
            <a:r>
              <a:rPr lang="en-US" dirty="0">
                <a:solidFill>
                  <a:schemeClr val="bg2">
                    <a:lumMod val="50000"/>
                  </a:schemeClr>
                </a:solidFill>
                <a:latin typeface="Arial Narrow"/>
              </a:rPr>
              <a:t>. Esto </a:t>
            </a:r>
            <a:r>
              <a:rPr lang="en-US" err="1">
                <a:solidFill>
                  <a:schemeClr val="bg2">
                    <a:lumMod val="50000"/>
                  </a:schemeClr>
                </a:solidFill>
                <a:latin typeface="Arial Narrow"/>
              </a:rPr>
              <a:t>generalmente</a:t>
            </a:r>
            <a:r>
              <a:rPr lang="en-US" dirty="0">
                <a:solidFill>
                  <a:schemeClr val="bg2">
                    <a:lumMod val="50000"/>
                  </a:schemeClr>
                </a:solidFill>
                <a:latin typeface="Arial Narrow"/>
              </a:rPr>
              <a:t> se describe </a:t>
            </a:r>
            <a:r>
              <a:rPr lang="en-US" err="1">
                <a:solidFill>
                  <a:schemeClr val="bg2">
                    <a:lumMod val="50000"/>
                  </a:schemeClr>
                </a:solidFill>
                <a:latin typeface="Arial Narrow"/>
              </a:rPr>
              <a:t>en</a:t>
            </a:r>
            <a:r>
              <a:rPr lang="en-US" dirty="0">
                <a:solidFill>
                  <a:schemeClr val="bg2">
                    <a:lumMod val="50000"/>
                  </a:schemeClr>
                </a:solidFill>
                <a:latin typeface="Arial Narrow"/>
              </a:rPr>
              <a:t> la hoja de </a:t>
            </a:r>
            <a:r>
              <a:rPr lang="en-US" err="1">
                <a:solidFill>
                  <a:schemeClr val="bg2">
                    <a:lumMod val="50000"/>
                  </a:schemeClr>
                </a:solidFill>
                <a:latin typeface="Arial Narrow"/>
              </a:rPr>
              <a:t>datos</a:t>
            </a:r>
            <a:r>
              <a:rPr lang="en-US" dirty="0">
                <a:solidFill>
                  <a:schemeClr val="bg2">
                    <a:lumMod val="50000"/>
                  </a:schemeClr>
                </a:solidFill>
                <a:latin typeface="Arial Narrow"/>
              </a:rPr>
              <a:t> del sensor. </a:t>
            </a:r>
            <a:r>
              <a:rPr lang="en-US" err="1">
                <a:solidFill>
                  <a:schemeClr val="bg2">
                    <a:lumMod val="50000"/>
                  </a:schemeClr>
                </a:solidFill>
                <a:latin typeface="Arial Narrow"/>
              </a:rPr>
              <a:t>Algunos</a:t>
            </a:r>
            <a:r>
              <a:rPr lang="en-US" dirty="0">
                <a:solidFill>
                  <a:schemeClr val="bg2">
                    <a:lumMod val="50000"/>
                  </a:schemeClr>
                </a:solidFill>
                <a:latin typeface="Arial Narrow"/>
              </a:rPr>
              <a:t> </a:t>
            </a:r>
            <a:r>
              <a:rPr lang="en-US" err="1">
                <a:solidFill>
                  <a:schemeClr val="bg2">
                    <a:lumMod val="50000"/>
                  </a:schemeClr>
                </a:solidFill>
                <a:latin typeface="Arial Narrow"/>
              </a:rPr>
              <a:t>sensores</a:t>
            </a:r>
            <a:r>
              <a:rPr lang="en-US" dirty="0">
                <a:solidFill>
                  <a:schemeClr val="bg2">
                    <a:lumMod val="50000"/>
                  </a:schemeClr>
                </a:solidFill>
                <a:latin typeface="Arial Narrow"/>
              </a:rPr>
              <a:t> </a:t>
            </a:r>
            <a:r>
              <a:rPr lang="en-US" err="1">
                <a:solidFill>
                  <a:schemeClr val="bg2">
                    <a:lumMod val="50000"/>
                  </a:schemeClr>
                </a:solidFill>
                <a:latin typeface="Arial Narrow"/>
              </a:rPr>
              <a:t>proporcionarán</a:t>
            </a:r>
            <a:r>
              <a:rPr lang="en-US" dirty="0">
                <a:solidFill>
                  <a:schemeClr val="bg2">
                    <a:lumMod val="50000"/>
                  </a:schemeClr>
                </a:solidFill>
                <a:latin typeface="Arial Narrow"/>
              </a:rPr>
              <a:t> </a:t>
            </a:r>
            <a:r>
              <a:rPr lang="en-US" err="1">
                <a:solidFill>
                  <a:schemeClr val="bg2">
                    <a:lumMod val="50000"/>
                  </a:schemeClr>
                </a:solidFill>
                <a:latin typeface="Arial Narrow"/>
              </a:rPr>
              <a:t>una</a:t>
            </a:r>
            <a:r>
              <a:rPr lang="en-US" dirty="0">
                <a:solidFill>
                  <a:schemeClr val="bg2">
                    <a:lumMod val="50000"/>
                  </a:schemeClr>
                </a:solidFill>
                <a:latin typeface="Arial Narrow"/>
              </a:rPr>
              <a:t> </a:t>
            </a:r>
            <a:r>
              <a:rPr lang="en-US" err="1">
                <a:solidFill>
                  <a:schemeClr val="bg2">
                    <a:lumMod val="50000"/>
                  </a:schemeClr>
                </a:solidFill>
                <a:latin typeface="Arial Narrow"/>
              </a:rPr>
              <a:t>salida</a:t>
            </a:r>
            <a:r>
              <a:rPr lang="en-US" dirty="0">
                <a:solidFill>
                  <a:schemeClr val="bg2">
                    <a:lumMod val="50000"/>
                  </a:schemeClr>
                </a:solidFill>
                <a:latin typeface="Arial Narrow"/>
              </a:rPr>
              <a:t> </a:t>
            </a:r>
            <a:r>
              <a:rPr lang="en-US" err="1">
                <a:solidFill>
                  <a:schemeClr val="bg2">
                    <a:lumMod val="50000"/>
                  </a:schemeClr>
                </a:solidFill>
                <a:latin typeface="Arial Narrow"/>
              </a:rPr>
              <a:t>directamente</a:t>
            </a:r>
            <a:r>
              <a:rPr lang="en-US" dirty="0">
                <a:solidFill>
                  <a:schemeClr val="bg2">
                    <a:lumMod val="50000"/>
                  </a:schemeClr>
                </a:solidFill>
                <a:latin typeface="Arial Narrow"/>
              </a:rPr>
              <a:t> </a:t>
            </a:r>
            <a:r>
              <a:rPr lang="en-US" err="1">
                <a:solidFill>
                  <a:schemeClr val="bg2">
                    <a:lumMod val="50000"/>
                  </a:schemeClr>
                </a:solidFill>
                <a:latin typeface="Arial Narrow"/>
              </a:rPr>
              <a:t>proporcional</a:t>
            </a:r>
            <a:r>
              <a:rPr lang="en-US" dirty="0">
                <a:solidFill>
                  <a:schemeClr val="bg2">
                    <a:lumMod val="50000"/>
                  </a:schemeClr>
                </a:solidFill>
                <a:latin typeface="Arial Narrow"/>
              </a:rPr>
              <a:t> a la variable </a:t>
            </a:r>
            <a:r>
              <a:rPr lang="en-US" err="1">
                <a:solidFill>
                  <a:schemeClr val="bg2">
                    <a:lumMod val="50000"/>
                  </a:schemeClr>
                </a:solidFill>
                <a:latin typeface="Arial Narrow"/>
              </a:rPr>
              <a:t>física</a:t>
            </a:r>
            <a:r>
              <a:rPr lang="en-US" dirty="0">
                <a:solidFill>
                  <a:schemeClr val="bg2">
                    <a:lumMod val="50000"/>
                  </a:schemeClr>
                </a:solidFill>
                <a:latin typeface="Arial Narrow"/>
              </a:rPr>
              <a:t> que </a:t>
            </a:r>
            <a:r>
              <a:rPr lang="en-US" err="1">
                <a:solidFill>
                  <a:schemeClr val="bg2">
                    <a:lumMod val="50000"/>
                  </a:schemeClr>
                </a:solidFill>
                <a:latin typeface="Arial Narrow"/>
              </a:rPr>
              <a:t>están</a:t>
            </a:r>
            <a:r>
              <a:rPr lang="en-US" dirty="0">
                <a:solidFill>
                  <a:schemeClr val="bg2">
                    <a:lumMod val="50000"/>
                  </a:schemeClr>
                </a:solidFill>
                <a:latin typeface="Arial Narrow"/>
              </a:rPr>
              <a:t> </a:t>
            </a:r>
            <a:r>
              <a:rPr lang="en-US" err="1">
                <a:solidFill>
                  <a:schemeClr val="bg2">
                    <a:lumMod val="50000"/>
                  </a:schemeClr>
                </a:solidFill>
                <a:latin typeface="Arial Narrow"/>
              </a:rPr>
              <a:t>midiendo</a:t>
            </a:r>
            <a:r>
              <a:rPr lang="en-US" dirty="0">
                <a:solidFill>
                  <a:schemeClr val="bg2">
                    <a:lumMod val="50000"/>
                  </a:schemeClr>
                </a:solidFill>
                <a:latin typeface="Arial Narrow"/>
              </a:rPr>
              <a:t>, </a:t>
            </a:r>
            <a:r>
              <a:rPr lang="en-US" err="1">
                <a:solidFill>
                  <a:schemeClr val="bg2">
                    <a:lumMod val="50000"/>
                  </a:schemeClr>
                </a:solidFill>
                <a:latin typeface="Arial Narrow"/>
              </a:rPr>
              <a:t>mientras</a:t>
            </a:r>
            <a:r>
              <a:rPr lang="en-US" dirty="0">
                <a:solidFill>
                  <a:schemeClr val="bg2">
                    <a:lumMod val="50000"/>
                  </a:schemeClr>
                </a:solidFill>
                <a:latin typeface="Arial Narrow"/>
              </a:rPr>
              <a:t> que </a:t>
            </a:r>
            <a:r>
              <a:rPr lang="en-US" err="1">
                <a:solidFill>
                  <a:schemeClr val="bg2">
                    <a:lumMod val="50000"/>
                  </a:schemeClr>
                </a:solidFill>
                <a:latin typeface="Arial Narrow"/>
              </a:rPr>
              <a:t>otros</a:t>
            </a:r>
            <a:r>
              <a:rPr lang="en-US" dirty="0">
                <a:solidFill>
                  <a:schemeClr val="bg2">
                    <a:lumMod val="50000"/>
                  </a:schemeClr>
                </a:solidFill>
                <a:latin typeface="Arial Narrow"/>
              </a:rPr>
              <a:t> </a:t>
            </a:r>
            <a:r>
              <a:rPr lang="en-US" err="1">
                <a:solidFill>
                  <a:schemeClr val="bg2">
                    <a:lumMod val="50000"/>
                  </a:schemeClr>
                </a:solidFill>
                <a:latin typeface="Arial Narrow"/>
              </a:rPr>
              <a:t>pueden</a:t>
            </a:r>
            <a:r>
              <a:rPr lang="en-US" dirty="0">
                <a:solidFill>
                  <a:schemeClr val="bg2">
                    <a:lumMod val="50000"/>
                  </a:schemeClr>
                </a:solidFill>
                <a:latin typeface="Arial Narrow"/>
              </a:rPr>
              <a:t> </a:t>
            </a:r>
            <a:r>
              <a:rPr lang="en-US" err="1">
                <a:solidFill>
                  <a:schemeClr val="bg2">
                    <a:lumMod val="50000"/>
                  </a:schemeClr>
                </a:solidFill>
                <a:latin typeface="Arial Narrow"/>
              </a:rPr>
              <a:t>requerir</a:t>
            </a:r>
            <a:r>
              <a:rPr lang="en-US" dirty="0">
                <a:solidFill>
                  <a:schemeClr val="bg2">
                    <a:lumMod val="50000"/>
                  </a:schemeClr>
                </a:solidFill>
                <a:latin typeface="Arial Narrow"/>
              </a:rPr>
              <a:t> </a:t>
            </a:r>
            <a:r>
              <a:rPr lang="en-US" err="1">
                <a:solidFill>
                  <a:schemeClr val="bg2">
                    <a:lumMod val="50000"/>
                  </a:schemeClr>
                </a:solidFill>
                <a:latin typeface="Arial Narrow"/>
              </a:rPr>
              <a:t>una</a:t>
            </a:r>
            <a:r>
              <a:rPr lang="en-US" dirty="0">
                <a:solidFill>
                  <a:schemeClr val="bg2">
                    <a:lumMod val="50000"/>
                  </a:schemeClr>
                </a:solidFill>
                <a:latin typeface="Arial Narrow"/>
              </a:rPr>
              <a:t> </a:t>
            </a:r>
            <a:r>
              <a:rPr lang="en-US" err="1">
                <a:solidFill>
                  <a:schemeClr val="bg2">
                    <a:lumMod val="50000"/>
                  </a:schemeClr>
                </a:solidFill>
                <a:latin typeface="Arial Narrow"/>
              </a:rPr>
              <a:t>fórmula</a:t>
            </a:r>
            <a:r>
              <a:rPr lang="en-US" dirty="0">
                <a:solidFill>
                  <a:schemeClr val="bg2">
                    <a:lumMod val="50000"/>
                  </a:schemeClr>
                </a:solidFill>
                <a:latin typeface="Arial Narrow"/>
              </a:rPr>
              <a:t> </a:t>
            </a:r>
            <a:r>
              <a:rPr lang="en-US" err="1">
                <a:solidFill>
                  <a:schemeClr val="bg2">
                    <a:lumMod val="50000"/>
                  </a:schemeClr>
                </a:solidFill>
                <a:latin typeface="Arial Narrow"/>
              </a:rPr>
              <a:t>específica</a:t>
            </a:r>
            <a:r>
              <a:rPr lang="en-US" dirty="0">
                <a:solidFill>
                  <a:schemeClr val="bg2">
                    <a:lumMod val="50000"/>
                  </a:schemeClr>
                </a:solidFill>
                <a:latin typeface="Arial Narrow"/>
              </a:rPr>
              <a:t> para </a:t>
            </a:r>
            <a:r>
              <a:rPr lang="en-US" err="1">
                <a:solidFill>
                  <a:schemeClr val="bg2">
                    <a:lumMod val="50000"/>
                  </a:schemeClr>
                </a:solidFill>
                <a:latin typeface="Arial Narrow"/>
              </a:rPr>
              <a:t>convertir</a:t>
            </a:r>
            <a:r>
              <a:rPr lang="en-US" dirty="0">
                <a:solidFill>
                  <a:schemeClr val="bg2">
                    <a:lumMod val="50000"/>
                  </a:schemeClr>
                </a:solidFill>
                <a:latin typeface="Arial Narrow"/>
              </a:rPr>
              <a:t> la </a:t>
            </a:r>
            <a:r>
              <a:rPr lang="en-US" err="1">
                <a:solidFill>
                  <a:schemeClr val="bg2">
                    <a:lumMod val="50000"/>
                  </a:schemeClr>
                </a:solidFill>
                <a:latin typeface="Arial Narrow"/>
              </a:rPr>
              <a:t>salida</a:t>
            </a:r>
            <a:r>
              <a:rPr lang="en-US" dirty="0">
                <a:solidFill>
                  <a:schemeClr val="bg2">
                    <a:lumMod val="50000"/>
                  </a:schemeClr>
                </a:solidFill>
                <a:latin typeface="Arial Narrow"/>
              </a:rPr>
              <a:t> </a:t>
            </a:r>
            <a:r>
              <a:rPr lang="en-US" err="1">
                <a:solidFill>
                  <a:schemeClr val="bg2">
                    <a:lumMod val="50000"/>
                  </a:schemeClr>
                </a:solidFill>
                <a:latin typeface="Arial Narrow"/>
              </a:rPr>
              <a:t>en</a:t>
            </a:r>
            <a:r>
              <a:rPr lang="en-US" dirty="0">
                <a:solidFill>
                  <a:schemeClr val="bg2">
                    <a:lumMod val="50000"/>
                  </a:schemeClr>
                </a:solidFill>
                <a:latin typeface="Arial Narrow"/>
              </a:rPr>
              <a:t> </a:t>
            </a:r>
            <a:r>
              <a:rPr lang="en-US" err="1">
                <a:solidFill>
                  <a:schemeClr val="bg2">
                    <a:lumMod val="50000"/>
                  </a:schemeClr>
                </a:solidFill>
                <a:latin typeface="Arial Narrow"/>
              </a:rPr>
              <a:t>una</a:t>
            </a:r>
            <a:r>
              <a:rPr lang="en-US" dirty="0">
                <a:solidFill>
                  <a:schemeClr val="bg2">
                    <a:lumMod val="50000"/>
                  </a:schemeClr>
                </a:solidFill>
                <a:latin typeface="Arial Narrow"/>
              </a:rPr>
              <a:t> </a:t>
            </a:r>
            <a:r>
              <a:rPr lang="en-US" err="1">
                <a:solidFill>
                  <a:schemeClr val="bg2">
                    <a:lumMod val="50000"/>
                  </a:schemeClr>
                </a:solidFill>
                <a:latin typeface="Arial Narrow"/>
              </a:rPr>
              <a:t>unidad</a:t>
            </a:r>
            <a:r>
              <a:rPr lang="en-US" dirty="0">
                <a:solidFill>
                  <a:schemeClr val="bg2">
                    <a:lumMod val="50000"/>
                  </a:schemeClr>
                </a:solidFill>
                <a:latin typeface="Arial Narrow"/>
              </a:rPr>
              <a:t> de </a:t>
            </a:r>
            <a:r>
              <a:rPr lang="en-US" err="1">
                <a:solidFill>
                  <a:schemeClr val="bg2">
                    <a:lumMod val="50000"/>
                  </a:schemeClr>
                </a:solidFill>
                <a:latin typeface="Arial Narrow"/>
              </a:rPr>
              <a:t>medida</a:t>
            </a:r>
            <a:r>
              <a:rPr lang="en-US" dirty="0">
                <a:solidFill>
                  <a:schemeClr val="bg2">
                    <a:lumMod val="50000"/>
                  </a:schemeClr>
                </a:solidFill>
                <a:latin typeface="Arial Narrow"/>
              </a:rPr>
              <a:t> </a:t>
            </a:r>
            <a:r>
              <a:rPr lang="en-US" err="1">
                <a:solidFill>
                  <a:schemeClr val="bg2">
                    <a:lumMod val="50000"/>
                  </a:schemeClr>
                </a:solidFill>
                <a:latin typeface="Arial Narrow"/>
              </a:rPr>
              <a:t>deseada</a:t>
            </a:r>
            <a:r>
              <a:rPr lang="en-US" dirty="0">
                <a:solidFill>
                  <a:schemeClr val="bg2">
                    <a:lumMod val="50000"/>
                  </a:schemeClr>
                </a:solidFill>
                <a:latin typeface="Arial Narrow"/>
              </a:rPr>
              <a:t>.</a:t>
            </a:r>
            <a:endParaRPr lang="en-US" dirty="0">
              <a:solidFill>
                <a:schemeClr val="bg2">
                  <a:lumMod val="50000"/>
                </a:schemeClr>
              </a:solidFill>
            </a:endParaRPr>
          </a:p>
          <a:p>
            <a:r>
              <a:rPr lang="en-US" dirty="0">
                <a:solidFill>
                  <a:schemeClr val="bg2">
                    <a:lumMod val="50000"/>
                  </a:schemeClr>
                </a:solidFill>
                <a:latin typeface="Arial Narrow"/>
              </a:rPr>
              <a:t>Una forma </a:t>
            </a:r>
            <a:r>
              <a:rPr lang="en-US" dirty="0" err="1">
                <a:solidFill>
                  <a:schemeClr val="bg2">
                    <a:lumMod val="50000"/>
                  </a:schemeClr>
                </a:solidFill>
                <a:latin typeface="Arial Narrow"/>
              </a:rPr>
              <a:t>generica</a:t>
            </a:r>
            <a:r>
              <a:rPr lang="en-US" dirty="0">
                <a:solidFill>
                  <a:schemeClr val="bg2">
                    <a:lumMod val="50000"/>
                  </a:schemeClr>
                </a:solidFill>
                <a:latin typeface="Arial Narrow"/>
              </a:rPr>
              <a:t> que </a:t>
            </a:r>
            <a:r>
              <a:rPr lang="en-US" dirty="0" err="1">
                <a:solidFill>
                  <a:schemeClr val="bg2">
                    <a:lumMod val="50000"/>
                  </a:schemeClr>
                </a:solidFill>
                <a:latin typeface="Arial Narrow"/>
              </a:rPr>
              <a:t>puede</a:t>
            </a:r>
            <a:r>
              <a:rPr lang="en-US" dirty="0">
                <a:solidFill>
                  <a:schemeClr val="bg2">
                    <a:lumMod val="50000"/>
                  </a:schemeClr>
                </a:solidFill>
                <a:latin typeface="Arial Narrow"/>
              </a:rPr>
              <a:t> </a:t>
            </a:r>
            <a:r>
              <a:rPr lang="en-US" dirty="0" err="1">
                <a:solidFill>
                  <a:schemeClr val="bg2">
                    <a:lumMod val="50000"/>
                  </a:schemeClr>
                </a:solidFill>
                <a:latin typeface="Arial Narrow"/>
              </a:rPr>
              <a:t>ayudarle</a:t>
            </a:r>
            <a:r>
              <a:rPr lang="en-US" dirty="0">
                <a:solidFill>
                  <a:schemeClr val="bg2">
                    <a:lumMod val="50000"/>
                  </a:schemeClr>
                </a:solidFill>
                <a:latin typeface="Arial Narrow"/>
              </a:rPr>
              <a:t> a </a:t>
            </a:r>
            <a:r>
              <a:rPr lang="en-US" dirty="0" err="1">
                <a:solidFill>
                  <a:schemeClr val="bg2">
                    <a:lumMod val="50000"/>
                  </a:schemeClr>
                </a:solidFill>
                <a:latin typeface="Arial Narrow"/>
              </a:rPr>
              <a:t>trabajar</a:t>
            </a:r>
            <a:r>
              <a:rPr lang="en-US" dirty="0">
                <a:solidFill>
                  <a:schemeClr val="bg2">
                    <a:lumMod val="50000"/>
                  </a:schemeClr>
                </a:solidFill>
                <a:latin typeface="Arial Narrow"/>
              </a:rPr>
              <a:t> con un sensor lineal se </a:t>
            </a:r>
            <a:r>
              <a:rPr lang="en-US" dirty="0" err="1">
                <a:solidFill>
                  <a:schemeClr val="bg2">
                    <a:lumMod val="50000"/>
                  </a:schemeClr>
                </a:solidFill>
                <a:latin typeface="Arial Narrow"/>
              </a:rPr>
              <a:t>basa</a:t>
            </a:r>
            <a:r>
              <a:rPr lang="en-US" dirty="0">
                <a:solidFill>
                  <a:schemeClr val="bg2">
                    <a:lumMod val="50000"/>
                  </a:schemeClr>
                </a:solidFill>
                <a:latin typeface="Arial Narrow"/>
              </a:rPr>
              <a:t> </a:t>
            </a:r>
            <a:r>
              <a:rPr lang="en-US" dirty="0" err="1">
                <a:solidFill>
                  <a:schemeClr val="bg2">
                    <a:lumMod val="50000"/>
                  </a:schemeClr>
                </a:solidFill>
                <a:latin typeface="Arial Narrow"/>
              </a:rPr>
              <a:t>en</a:t>
            </a:r>
            <a:r>
              <a:rPr lang="en-US" dirty="0">
                <a:solidFill>
                  <a:schemeClr val="bg2">
                    <a:lumMod val="50000"/>
                  </a:schemeClr>
                </a:solidFill>
                <a:latin typeface="Arial Narrow"/>
              </a:rPr>
              <a:t> la </a:t>
            </a:r>
            <a:r>
              <a:rPr lang="en-US" dirty="0" err="1">
                <a:solidFill>
                  <a:schemeClr val="bg2">
                    <a:lumMod val="50000"/>
                  </a:schemeClr>
                </a:solidFill>
                <a:latin typeface="Arial Narrow"/>
              </a:rPr>
              <a:t>normalización</a:t>
            </a:r>
            <a:r>
              <a:rPr lang="en-US" dirty="0">
                <a:solidFill>
                  <a:schemeClr val="bg2">
                    <a:lumMod val="50000"/>
                  </a:schemeClr>
                </a:solidFill>
                <a:latin typeface="Arial Narrow"/>
              </a:rPr>
              <a:t> de </a:t>
            </a:r>
            <a:r>
              <a:rPr lang="en-US" dirty="0" err="1">
                <a:solidFill>
                  <a:schemeClr val="bg2">
                    <a:lumMod val="50000"/>
                  </a:schemeClr>
                </a:solidFill>
                <a:latin typeface="Arial Narrow"/>
              </a:rPr>
              <a:t>los</a:t>
            </a:r>
            <a:r>
              <a:rPr lang="en-US" dirty="0">
                <a:solidFill>
                  <a:schemeClr val="bg2">
                    <a:lumMod val="50000"/>
                  </a:schemeClr>
                </a:solidFill>
                <a:latin typeface="Arial Narrow"/>
              </a:rPr>
              <a:t> </a:t>
            </a:r>
            <a:r>
              <a:rPr lang="en-US" dirty="0" err="1">
                <a:solidFill>
                  <a:schemeClr val="bg2">
                    <a:lumMod val="50000"/>
                  </a:schemeClr>
                </a:solidFill>
                <a:latin typeface="Arial Narrow"/>
              </a:rPr>
              <a:t>datos</a:t>
            </a:r>
            <a:r>
              <a:rPr lang="en-US" dirty="0">
                <a:solidFill>
                  <a:schemeClr val="bg2">
                    <a:lumMod val="50000"/>
                  </a:schemeClr>
                </a:solidFill>
                <a:latin typeface="Arial Narrow"/>
              </a:rPr>
              <a:t> que se </a:t>
            </a:r>
            <a:r>
              <a:rPr lang="en-US" dirty="0" err="1">
                <a:solidFill>
                  <a:schemeClr val="bg2">
                    <a:lumMod val="50000"/>
                  </a:schemeClr>
                </a:solidFill>
                <a:latin typeface="Arial Narrow"/>
              </a:rPr>
              <a:t>obtienen</a:t>
            </a:r>
            <a:r>
              <a:rPr lang="en-US" dirty="0">
                <a:solidFill>
                  <a:schemeClr val="bg2">
                    <a:lumMod val="50000"/>
                  </a:schemeClr>
                </a:solidFill>
                <a:latin typeface="Arial Narrow"/>
              </a:rPr>
              <a:t> del </a:t>
            </a:r>
            <a:r>
              <a:rPr lang="en-US" dirty="0" err="1">
                <a:solidFill>
                  <a:schemeClr val="bg2">
                    <a:lumMod val="50000"/>
                  </a:schemeClr>
                </a:solidFill>
                <a:latin typeface="Arial Narrow"/>
              </a:rPr>
              <a:t>mismo</a:t>
            </a:r>
            <a:r>
              <a:rPr lang="en-US" dirty="0">
                <a:solidFill>
                  <a:schemeClr val="bg2">
                    <a:lumMod val="50000"/>
                  </a:schemeClr>
                </a:solidFill>
                <a:latin typeface="Arial Narrow"/>
              </a:rPr>
              <a:t> y </a:t>
            </a:r>
            <a:r>
              <a:rPr lang="en-US" dirty="0" err="1">
                <a:solidFill>
                  <a:schemeClr val="bg2">
                    <a:lumMod val="50000"/>
                  </a:schemeClr>
                </a:solidFill>
                <a:latin typeface="Arial Narrow"/>
              </a:rPr>
              <a:t>multiplicar</a:t>
            </a:r>
            <a:r>
              <a:rPr lang="en-US" dirty="0">
                <a:solidFill>
                  <a:schemeClr val="bg2">
                    <a:lumMod val="50000"/>
                  </a:schemeClr>
                </a:solidFill>
                <a:latin typeface="Arial Narrow"/>
              </a:rPr>
              <a:t> </a:t>
            </a:r>
            <a:r>
              <a:rPr lang="en-US" dirty="0" err="1">
                <a:solidFill>
                  <a:schemeClr val="bg2">
                    <a:lumMod val="50000"/>
                  </a:schemeClr>
                </a:solidFill>
                <a:latin typeface="Arial Narrow"/>
              </a:rPr>
              <a:t>por</a:t>
            </a:r>
            <a:r>
              <a:rPr lang="en-US" dirty="0">
                <a:solidFill>
                  <a:schemeClr val="bg2">
                    <a:lumMod val="50000"/>
                  </a:schemeClr>
                </a:solidFill>
                <a:latin typeface="Arial Narrow"/>
              </a:rPr>
              <a:t> </a:t>
            </a:r>
            <a:r>
              <a:rPr lang="en-US" dirty="0" err="1">
                <a:solidFill>
                  <a:schemeClr val="bg2">
                    <a:lumMod val="50000"/>
                  </a:schemeClr>
                </a:solidFill>
                <a:latin typeface="Arial Narrow"/>
              </a:rPr>
              <a:t>el</a:t>
            </a:r>
            <a:r>
              <a:rPr lang="en-US" dirty="0">
                <a:solidFill>
                  <a:schemeClr val="bg2">
                    <a:lumMod val="50000"/>
                  </a:schemeClr>
                </a:solidFill>
                <a:latin typeface="Arial Narrow"/>
              </a:rPr>
              <a:t> valor </a:t>
            </a:r>
            <a:r>
              <a:rPr lang="en-US" dirty="0" err="1">
                <a:solidFill>
                  <a:schemeClr val="bg2">
                    <a:lumMod val="50000"/>
                  </a:schemeClr>
                </a:solidFill>
                <a:latin typeface="Arial Narrow"/>
              </a:rPr>
              <a:t>maximo</a:t>
            </a:r>
            <a:r>
              <a:rPr lang="en-US" dirty="0">
                <a:solidFill>
                  <a:schemeClr val="bg2">
                    <a:lumMod val="50000"/>
                  </a:schemeClr>
                </a:solidFill>
                <a:latin typeface="Arial Narrow"/>
              </a:rPr>
              <a:t> </a:t>
            </a:r>
            <a:r>
              <a:rPr lang="en-US" dirty="0" err="1">
                <a:solidFill>
                  <a:schemeClr val="bg2">
                    <a:lumMod val="50000"/>
                  </a:schemeClr>
                </a:solidFill>
                <a:latin typeface="Arial Narrow"/>
              </a:rPr>
              <a:t>posible</a:t>
            </a:r>
            <a:r>
              <a:rPr lang="en-US" dirty="0">
                <a:solidFill>
                  <a:schemeClr val="bg2">
                    <a:lumMod val="50000"/>
                  </a:schemeClr>
                </a:solidFill>
                <a:latin typeface="Arial Narrow"/>
              </a:rPr>
              <a:t>:</a:t>
            </a:r>
            <a:endParaRPr lang="en-US" dirty="0">
              <a:solidFill>
                <a:schemeClr val="bg2">
                  <a:lumMod val="50000"/>
                </a:schemeClr>
              </a:solidFill>
            </a:endParaRPr>
          </a:p>
          <a:p>
            <a:endParaRPr lang="en-US" dirty="0">
              <a:solidFill>
                <a:schemeClr val="bg2">
                  <a:lumMod val="50000"/>
                </a:schemeClr>
              </a:solidFill>
            </a:endParaRPr>
          </a:p>
          <a:p>
            <a:pPr algn="ctr"/>
            <a:r>
              <a:rPr lang="en-US" b="1" dirty="0">
                <a:solidFill>
                  <a:schemeClr val="bg2">
                    <a:lumMod val="50000"/>
                  </a:schemeClr>
                </a:solidFill>
                <a:latin typeface="Arial Narrow"/>
              </a:rPr>
              <a:t>Conversion = [(</a:t>
            </a:r>
            <a:r>
              <a:rPr lang="en-US" b="1" err="1">
                <a:solidFill>
                  <a:schemeClr val="bg2">
                    <a:lumMod val="50000"/>
                  </a:schemeClr>
                </a:solidFill>
                <a:latin typeface="Arial Narrow"/>
              </a:rPr>
              <a:t>valor_ADC</a:t>
            </a:r>
            <a:r>
              <a:rPr lang="en-US" b="1" dirty="0">
                <a:solidFill>
                  <a:schemeClr val="bg2">
                    <a:lumMod val="50000"/>
                  </a:schemeClr>
                </a:solidFill>
                <a:latin typeface="Arial Narrow"/>
              </a:rPr>
              <a:t> – min) / (max – min)] * </a:t>
            </a:r>
            <a:r>
              <a:rPr lang="en-US" b="1" err="1">
                <a:solidFill>
                  <a:schemeClr val="bg2">
                    <a:lumMod val="50000"/>
                  </a:schemeClr>
                </a:solidFill>
                <a:latin typeface="Arial Narrow"/>
              </a:rPr>
              <a:t>max_unidad</a:t>
            </a:r>
            <a:endParaRPr lang="en-US" b="1" err="1">
              <a:solidFill>
                <a:schemeClr val="bg2">
                  <a:lumMod val="50000"/>
                </a:schemeClr>
              </a:solidFill>
            </a:endParaRPr>
          </a:p>
          <a:p>
            <a:endParaRPr lang="en-US" sz="1200" dirty="0">
              <a:solidFill>
                <a:srgbClr val="0D0D0D"/>
              </a:solidFill>
            </a:endParaRPr>
          </a:p>
          <a:p>
            <a:endParaRPr lang="en-US" dirty="0">
              <a:solidFill>
                <a:srgbClr val="595959"/>
              </a:solidFill>
            </a:endParaRPr>
          </a:p>
        </p:txBody>
      </p:sp>
    </p:spTree>
    <p:extLst>
      <p:ext uri="{BB962C8B-B14F-4D97-AF65-F5344CB8AC3E}">
        <p14:creationId xmlns:p14="http://schemas.microsoft.com/office/powerpoint/2010/main" val="2149397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930374"/>
      </p:ext>
    </p:extLst>
  </p:cSld>
  <p:clrMapOvr>
    <a:masterClrMapping/>
  </p:clrMapOvr>
</p:sld>
</file>

<file path=ppt/theme/theme1.xml><?xml version="1.0" encoding="utf-8"?>
<a:theme xmlns:a="http://schemas.openxmlformats.org/drawingml/2006/main" name="1_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5951D9CC6387B4BA485D72A2CB95580" ma:contentTypeVersion="8" ma:contentTypeDescription="Create a new document." ma:contentTypeScope="" ma:versionID="439218f9fb54f11818a2d1f13def84af">
  <xsd:schema xmlns:xsd="http://www.w3.org/2001/XMLSchema" xmlns:xs="http://www.w3.org/2001/XMLSchema" xmlns:p="http://schemas.microsoft.com/office/2006/metadata/properties" xmlns:ns2="b2f86dd7-c612-4075-9056-e01ca081dec3" targetNamespace="http://schemas.microsoft.com/office/2006/metadata/properties" ma:root="true" ma:fieldsID="9c449413f8bf3dd49edc3e8da17e9625" ns2:_="">
    <xsd:import namespace="b2f86dd7-c612-4075-9056-e01ca081de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f86dd7-c612-4075-9056-e01ca081de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43CF1F-04A0-48B2-A9D6-290B32BDB9C8}">
  <ds:schemaRefs>
    <ds:schemaRef ds:uri="http://schemas.microsoft.com/office/2006/metadata/properties"/>
    <ds:schemaRef ds:uri="http://schemas.microsoft.com/office/infopath/2007/PartnerControls"/>
    <ds:schemaRef ds:uri="a21fb424-018a-4bce-8921-705489124620"/>
  </ds:schemaRefs>
</ds:datastoreItem>
</file>

<file path=customXml/itemProps2.xml><?xml version="1.0" encoding="utf-8"?>
<ds:datastoreItem xmlns:ds="http://schemas.openxmlformats.org/officeDocument/2006/customXml" ds:itemID="{BC4A64C1-7292-4A48-A4C8-CDF9E60328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2f86dd7-c612-4075-9056-e01ca081de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E78398A-CB8D-402C-BB25-D776C84C2BE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717</TotalTime>
  <Words>697</Words>
  <Application>Microsoft Office PowerPoint</Application>
  <PresentationFormat>Widescreen</PresentationFormat>
  <Paragraphs>26</Paragraphs>
  <Slides>12</Slides>
  <Notes>0</Notes>
  <HiddenSlides>0</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1_Diseño personalizado</vt:lpstr>
      <vt:lpstr>4_Diseño personalizado</vt:lpstr>
      <vt:lpstr>MICROCONTROLADORES ADC-DAC  Yomin Estiven Jaramillo Múnera  Ingeniero Biomédico  MSc. Automatización y Control Industrial  </vt:lpstr>
      <vt:lpstr>Analog to Digital Converter ADC</vt:lpstr>
      <vt:lpstr>Analog to Digital Converter ADC</vt:lpstr>
      <vt:lpstr>Analog to Digital Converter ADC</vt:lpstr>
      <vt:lpstr>Analog to Digital Converter ADC</vt:lpstr>
      <vt:lpstr>Analog to Digital Converter ADC</vt:lpstr>
      <vt:lpstr>Digital to Analog Converter ADC</vt:lpstr>
      <vt:lpstr>Digital to Analog Converter ADC</vt:lpstr>
      <vt:lpstr>Digital to Analog Converter ADC</vt:lpstr>
      <vt:lpstr>Normalización y lectura de Sensores lineales</vt:lpstr>
      <vt:lpstr>Normalización y lectura de Sensores lineales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Carolina López García</dc:creator>
  <cp:lastModifiedBy>YE JM</cp:lastModifiedBy>
  <cp:revision>105</cp:revision>
  <dcterms:created xsi:type="dcterms:W3CDTF">2020-02-18T21:49:27Z</dcterms:created>
  <dcterms:modified xsi:type="dcterms:W3CDTF">2024-03-20T17:03:34Z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0x01010045951D9CC6387B4BA485D72A2CB95580</vt:lpwstr>
  </property>
  <property fmtid="{D5CDD505-2E9C-101B-9397-08002B2CF9AE}" pid="3" name="Order">
    <vt:r8>600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ies>
</file>